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 without metrics is hope. Track pass rate, functional coverage percentage, and bug escapes—the defects that slipped out despite your tests. The literacy lab uses HEALTHY, OPEN, and BLOCKED statuses so you decide whether the project can move forward or must stop and fix.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rate tells you how many tests succeed right now—one flaky fail blocks confidence. Coverage percent tells you how much of the intended space you exercised—not merely that lines toggled. Bug escapes are the painful teacher: if production or late review found defects your regressions missed, metrics go BLOCKED until you address the hole.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metrics lab, load the starter dashboard and adjust pass rate, coverage, and escape counts until the program status matches the scenario. Some cards start OPEN—metrics incomplete. Escapes can flip the program to BLOCKED even when pass rate looks fine. Finish with a HEALTHY scenario you can explain.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run a small regression— even two tests—and record pass/fail in notes. If you have a coverage switch or simple checklist from EXAMPLES, note one bin or feature you have not hit yet. Name one hypothetical escape and what test would catch it. This is literacy, not a full coverage closure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celebrate hundred percent pass rate with zero coverage depth. Do not ignore escapes because “we sim a lot.” Do not treat browser metrics as real project data—they teach the vocabulary. And do not sign off when status is BLOCKED; fix the escape class or add tests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reach HEALTHY on at least one scenario and explain BLOCKED on another. In Track A, write three numbers or notes: passes, one coverage gap, one escape risk. When you are ready, take the short quiz, then continue to the offline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Metrics that matter</a:t>
            </a:r>
          </a:p>
          <a:p>
            <a:pPr algn="ctr">
              <a:lnSpc>
                <a:spcPts val="2200"/>
              </a:lnSpc>
              <a:spcBef>
                <a:spcPts val="1400"/>
              </a:spcBef>
            </a:pPr>
            <a:r>
              <a:rPr sz="2600" b="0">
                <a:solidFill>
                  <a:srgbClr val="333333"/>
                </a:solidFill>
                <a:latin typeface="Calibri"/>
              </a:rPr>
              <a:t>Simulation without metrics is hope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verif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Pass rate, coverage, escapes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Pass rate tells you how many tests succeed right now, one flaky fail blocks confidence</a:t>
            </a:r>
          </a:p>
          <a:p>
            <a:pPr lvl="0" marL="457200" indent="-228600">
              <a:buFont typeface="Calibri"/>
              <a:spcAft>
                <a:spcPts val="1000"/>
              </a:spcAft>
              <a:buSzPct val="100000"/>
              <a:buChar char="•"/>
              <a:lnSpc>
                <a:spcPts val="2200"/>
              </a:lnSpc>
            </a:pPr>
            <a:r>
              <a:rPr sz="2000" b="0">
                <a:solidFill>
                  <a:srgbClr val="333333"/>
                </a:solidFill>
                <a:latin typeface="Calibri"/>
              </a:rPr>
              <a:t>Coverage percent tells you how much of the intended space you exercised</a:t>
            </a:r>
          </a:p>
          <a:p>
            <a:pPr lvl="0" marL="457200" indent="-228600">
              <a:buFont typeface="Calibri"/>
              <a:spcAft>
                <a:spcPts val="1000"/>
              </a:spcAft>
              <a:buSzPct val="100000"/>
              <a:buChar char="•"/>
              <a:lnSpc>
                <a:spcPts val="2200"/>
              </a:lnSpc>
            </a:pPr>
            <a:r>
              <a:rPr sz="2000" b="0">
                <a:solidFill>
                  <a:srgbClr val="333333"/>
                </a:solidFill>
                <a:latin typeface="Calibri"/>
              </a:rPr>
              <a:t>Bug escapes are the painful teacher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verif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verif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run a small regression, even two tests, and record pass/fail in notes</a:t>
            </a:r>
          </a:p>
          <a:p>
            <a:pPr lvl="0" marL="457200" indent="-228600">
              <a:buFont typeface="Calibri"/>
              <a:spcAft>
                <a:spcPts val="1000"/>
              </a:spcAft>
              <a:buSzPct val="100000"/>
              <a:buChar char="•"/>
              <a:lnSpc>
                <a:spcPts val="2200"/>
              </a:lnSpc>
            </a:pPr>
            <a:r>
              <a:rPr sz="2000" b="0">
                <a:solidFill>
                  <a:srgbClr val="333333"/>
                </a:solidFill>
                <a:latin typeface="Calibri"/>
              </a:rPr>
              <a:t>If you have a coverage switch or simple checklist from EXAMPLES</a:t>
            </a:r>
          </a:p>
          <a:p>
            <a:pPr lvl="0" marL="457200" indent="-228600">
              <a:buFont typeface="Calibri"/>
              <a:spcAft>
                <a:spcPts val="1000"/>
              </a:spcAft>
              <a:buSzPct val="100000"/>
              <a:buChar char="•"/>
              <a:lnSpc>
                <a:spcPts val="2200"/>
              </a:lnSpc>
            </a:pPr>
            <a:r>
              <a:rPr sz="2000" b="0">
                <a:solidFill>
                  <a:srgbClr val="333333"/>
                </a:solidFill>
                <a:latin typeface="Calibri"/>
              </a:rPr>
              <a:t>Name one hypothetical escape and what test would catch it</a:t>
            </a:r>
          </a:p>
          <a:p>
            <a:pPr lvl="0" marL="457200" indent="-228600">
              <a:buFont typeface="Calibri"/>
              <a:spcAft>
                <a:spcPts val="1000"/>
              </a:spcAft>
              <a:buSzPct val="100000"/>
              <a:buChar char="•"/>
              <a:lnSpc>
                <a:spcPts val="2200"/>
              </a:lnSpc>
            </a:pPr>
            <a:r>
              <a:rPr sz="2000" b="0">
                <a:solidFill>
                  <a:srgbClr val="333333"/>
                </a:solidFill>
                <a:latin typeface="Calibri"/>
              </a:rPr>
              <a:t>This is literacy, not a full coverage closure project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verif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celebrate hundred percent pass rate with zero coverage depth</a:t>
            </a:r>
          </a:p>
          <a:p>
            <a:pPr lvl="0" marL="457200" indent="-228600">
              <a:buFont typeface="Calibri"/>
              <a:spcAft>
                <a:spcPts val="1000"/>
              </a:spcAft>
              <a:buSzPct val="100000"/>
              <a:buChar char="•"/>
              <a:lnSpc>
                <a:spcPts val="2200"/>
              </a:lnSpc>
            </a:pPr>
            <a:r>
              <a:rPr sz="2000" b="0">
                <a:solidFill>
                  <a:srgbClr val="333333"/>
                </a:solidFill>
                <a:latin typeface="Calibri"/>
              </a:rPr>
              <a:t>They teach the vocabulary</a:t>
            </a:r>
          </a:p>
          <a:p>
            <a:pPr lvl="0" marL="457200" indent="-228600">
              <a:buFont typeface="Calibri"/>
              <a:spcAft>
                <a:spcPts val="1000"/>
              </a:spcAft>
              <a:buSzPct val="100000"/>
              <a:buChar char="•"/>
              <a:lnSpc>
                <a:spcPts val="2200"/>
              </a:lnSpc>
            </a:pPr>
            <a:r>
              <a:rPr sz="2000" b="0">
                <a:solidFill>
                  <a:srgbClr val="333333"/>
                </a:solidFill>
                <a:latin typeface="Calibri"/>
              </a:rPr>
              <a:t>And do not sign off when status is BLOCKED; fix the escape class or add tests first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verif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reach HEALTHY on at least one scenario and explain BLOCKED on another</a:t>
            </a:r>
          </a:p>
          <a:p>
            <a:pPr lvl="0" marL="457200" indent="-228600">
              <a:buFont typeface="Calibri"/>
              <a:spcAft>
                <a:spcPts val="1000"/>
              </a:spcAft>
              <a:buSzPct val="100000"/>
              <a:buChar char="•"/>
              <a:lnSpc>
                <a:spcPts val="2200"/>
              </a:lnSpc>
            </a:pPr>
            <a:r>
              <a:rPr sz="2000" b="0">
                <a:solidFill>
                  <a:srgbClr val="333333"/>
                </a:solidFill>
                <a:latin typeface="Calibri"/>
              </a:rPr>
              <a:t>In Track A, write three numbers or notes: passes, one coverage gap, one escape risk</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offline example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verif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