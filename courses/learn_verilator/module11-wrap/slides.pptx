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You now have a working map of Verilator as a tool. You can choose versus Icarus for the job, walk compile-elaborate-run, lint with intent, host a C++ testbench with an eval loop, discipline clock and reset, pair trace flags with dump calls, pick VCD or FST wisely, expose only needed internals, read metrics seriously, and run an offline example for real.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Job-first simulator choice transfers to every new block. Lint-before-waves saves hours. The eval-loop mental model survives across designs. Trace flag plus dump is the wave mantra. Minimal public markers keep hosts clean. Metrics vocabulary—pass rate, coverage, escapes—bridges to planning courses without becoming UVM.</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If you mainly used browser labs, pick one Track A example and reproduce compile, run, and a short trace. If you mainly used Track A, revisit any browser lab you skipped for graded challenges. Confirm you can open the tools index and name where Simulation literacy lives.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event-delay teaching depth, spend time in learn Icarus—the sibling path. For protocol bring-up, UART, SPI, and I²C courses reuse the same trace and testbench habits. For SystemVerilog language depth, continue learn Verilog modules. For UVM, climb that ladder when you need constrained-random environments—not before you can run a clean Verilator regression.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Fix RTL before blanket-disabling warnings. Keep C++ host and SV testbench paradigms straight. Turn dump on when you need waves. Mark public only what you must read. Treat escapes as BLOCKED until addressed. And remember: browser labs teach moves; confidence comes from offline runs that pass twice in a row.</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Check off the wrap checklist. You finished the learn Verilator path. Run one small regression or lint-clean example if you want a victory lap, then pick the next course that matches your goal—language depth, Icarus literacy, protocols, or planning metrics.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828800"/>
            <a:ext cx="11064240" cy="2743200"/>
          </a:xfrm>
          <a:prstGeom prst="rect">
            <a:avLst/>
          </a:prstGeom>
          <a:noFill/>
        </p:spPr>
        <p:txBody>
          <a:bodyPr wrap="square">
            <a:noAutofit/>
          </a:bodyPr>
          <a:lstStyle/>
          <a:p>
            <a:pPr algn="ctr">
              <a:lnSpc>
                <a:spcPts val="2200"/>
              </a:lnSpc>
              <a:spcAft>
                <a:spcPts val="400"/>
              </a:spcAft>
            </a:pPr>
            <a:r>
              <a:rPr sz="4000" b="1">
                <a:solidFill>
                  <a:srgbClr val="1A1A2E"/>
                </a:solidFill>
                <a:latin typeface="Calibri"/>
              </a:rPr>
              <a:t>Verilator track complete</a:t>
            </a:r>
          </a:p>
          <a:p>
            <a:pPr algn="ctr">
              <a:lnSpc>
                <a:spcPts val="2200"/>
              </a:lnSpc>
              <a:spcBef>
                <a:spcPts val="1400"/>
              </a:spcBef>
            </a:pPr>
            <a:r>
              <a:rPr sz="2600" b="0">
                <a:solidFill>
                  <a:srgbClr val="333333"/>
                </a:solidFill>
                <a:latin typeface="Calibri"/>
              </a:rPr>
              <a:t>You now have a working map of Verilator as a tool</a:t>
            </a:r>
          </a:p>
        </p:txBody>
      </p:sp>
      <p:sp>
        <p:nvSpPr>
          <p:cNvPr id="3" name="TextBox 2"/>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learn_verilator — wrap</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Skills you can reuse</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Job-first simulator choice transfers to every new block</a:t>
            </a:r>
          </a:p>
          <a:p>
            <a:pPr lvl="0" marL="457200" indent="-228600">
              <a:buFont typeface="Calibri"/>
              <a:spcAft>
                <a:spcPts val="1000"/>
              </a:spcAft>
              <a:buSzPct val="100000"/>
              <a:buChar char="•"/>
              <a:lnSpc>
                <a:spcPts val="2200"/>
              </a:lnSpc>
            </a:pPr>
            <a:r>
              <a:rPr sz="2000" b="0">
                <a:solidFill>
                  <a:srgbClr val="333333"/>
                </a:solidFill>
                <a:latin typeface="Calibri"/>
              </a:rPr>
              <a:t>Lint-before-waves saves hours</a:t>
            </a:r>
          </a:p>
          <a:p>
            <a:pPr lvl="0" marL="457200" indent="-228600">
              <a:buFont typeface="Calibri"/>
              <a:spcAft>
                <a:spcPts val="1000"/>
              </a:spcAft>
              <a:buSzPct val="100000"/>
              <a:buChar char="•"/>
              <a:lnSpc>
                <a:spcPts val="2200"/>
              </a:lnSpc>
            </a:pPr>
            <a:r>
              <a:rPr sz="2000" b="0">
                <a:solidFill>
                  <a:srgbClr val="333333"/>
                </a:solidFill>
                <a:latin typeface="Calibri"/>
              </a:rPr>
              <a:t>The eval-loop mental model survives across designs</a:t>
            </a:r>
          </a:p>
          <a:p>
            <a:pPr lvl="0" marL="457200" indent="-228600">
              <a:buFont typeface="Calibri"/>
              <a:spcAft>
                <a:spcPts val="1000"/>
              </a:spcAft>
              <a:buSzPct val="100000"/>
              <a:buChar char="•"/>
              <a:lnSpc>
                <a:spcPts val="2200"/>
              </a:lnSpc>
            </a:pPr>
            <a:r>
              <a:rPr sz="2000" b="0">
                <a:solidFill>
                  <a:srgbClr val="333333"/>
                </a:solidFill>
                <a:latin typeface="Calibri"/>
              </a:rPr>
              <a:t>Trace flag plus dump is the wave mantra</a:t>
            </a:r>
          </a:p>
          <a:p>
            <a:pPr lvl="0" marL="457200" indent="-228600">
              <a:buFont typeface="Calibri"/>
              <a:spcAft>
                <a:spcPts val="1000"/>
              </a:spcAft>
              <a:buSzPct val="100000"/>
              <a:buChar char="•"/>
              <a:lnSpc>
                <a:spcPts val="2200"/>
              </a:lnSpc>
            </a:pPr>
            <a:r>
              <a:rPr sz="2000" b="0">
                <a:solidFill>
                  <a:srgbClr val="333333"/>
                </a:solidFill>
                <a:latin typeface="Calibri"/>
              </a:rPr>
              <a:t>Minimal public markers keep hosts clean</a:t>
            </a:r>
          </a:p>
          <a:p>
            <a:pPr lvl="0" marL="457200" indent="-228600">
              <a:buFont typeface="Calibri"/>
              <a:spcAft>
                <a:spcPts val="1000"/>
              </a:spcAft>
              <a:buSzPct val="100000"/>
              <a:buChar char="•"/>
              <a:lnSpc>
                <a:spcPts val="2200"/>
              </a:lnSpc>
            </a:pPr>
            <a:r>
              <a:rPr sz="2000" b="0">
                <a:solidFill>
                  <a:srgbClr val="333333"/>
                </a:solidFill>
                <a:latin typeface="Calibri"/>
              </a:rPr>
              <a:t>Metrics vocabulary</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learn_verilator — wrap</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Dual-track recap</a:t>
            </a:r>
          </a:p>
        </p:txBody>
      </p:sp>
      <p:sp>
        <p:nvSpPr>
          <p:cNvPr id="3" name="TextBox 2"/>
          <p:cNvSpPr txBox="1"/>
          <p:nvPr/>
        </p:nvSpPr>
        <p:spPr>
          <a:xfrm>
            <a:off x="548640" y="1234440"/>
            <a:ext cx="5303520" cy="475488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If you mainly used browser labs, pick one Track A example and reproduce compile, run</a:t>
            </a:r>
          </a:p>
          <a:p>
            <a:pPr lvl="0" marL="457200" indent="-228600">
              <a:buFont typeface="Calibri"/>
              <a:spcAft>
                <a:spcPts val="1000"/>
              </a:spcAft>
              <a:buSzPct val="100000"/>
              <a:buChar char="•"/>
              <a:lnSpc>
                <a:spcPts val="2200"/>
              </a:lnSpc>
            </a:pPr>
            <a:r>
              <a:rPr sz="2000" b="0">
                <a:solidFill>
                  <a:srgbClr val="333333"/>
                </a:solidFill>
                <a:latin typeface="Calibri"/>
              </a:rPr>
              <a:t>If you mainly used Track A, revisit any browser lab you skipped for graded challenges</a:t>
            </a:r>
          </a:p>
          <a:p>
            <a:pPr lvl="0" marL="457200" indent="-228600">
              <a:buFont typeface="Calibri"/>
              <a:spcAft>
                <a:spcPts val="1000"/>
              </a:spcAft>
              <a:buSzPct val="100000"/>
              <a:buChar char="•"/>
              <a:lnSpc>
                <a:spcPts val="2200"/>
              </a:lnSpc>
            </a:pPr>
            <a:r>
              <a:rPr sz="2000" b="0">
                <a:solidFill>
                  <a:srgbClr val="333333"/>
                </a:solidFill>
                <a:latin typeface="Calibri"/>
              </a:rPr>
              <a:t>Confirm you can open the tools index and name where Simulation literacy lives</a:t>
            </a:r>
          </a:p>
        </p:txBody>
      </p:sp>
      <p:pic>
        <p:nvPicPr>
          <p:cNvPr id="4" name="Picture 3" descr="tools-index.png"/>
          <p:cNvPicPr>
            <a:picLocks noChangeAspect="1"/>
          </p:cNvPicPr>
          <p:nvPr/>
        </p:nvPicPr>
        <p:blipFill>
          <a:blip r:embed="rId2"/>
          <a:stretch>
            <a:fillRect/>
          </a:stretch>
        </p:blipFill>
        <p:spPr>
          <a:xfrm>
            <a:off x="6172200" y="1715214"/>
            <a:ext cx="5394960" cy="3793331"/>
          </a:xfrm>
          <a:prstGeom prst="rect">
            <a:avLst/>
          </a:prstGeom>
        </p:spPr>
      </p:pic>
      <p:sp>
        <p:nvSpPr>
          <p:cNvPr id="5" name="TextBox 4"/>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learn_verilator — wrap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Where to go next</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For event-delay teaching depth, spend time in learn Icarus, the sibling path</a:t>
            </a:r>
          </a:p>
          <a:p>
            <a:pPr lvl="0" marL="457200" indent="-228600">
              <a:buFont typeface="Calibri"/>
              <a:spcAft>
                <a:spcPts val="1000"/>
              </a:spcAft>
              <a:buSzPct val="100000"/>
              <a:buChar char="•"/>
              <a:lnSpc>
                <a:spcPts val="2200"/>
              </a:lnSpc>
            </a:pPr>
            <a:r>
              <a:rPr sz="2000" b="0">
                <a:solidFill>
                  <a:srgbClr val="333333"/>
                </a:solidFill>
                <a:latin typeface="Calibri"/>
              </a:rPr>
              <a:t>For protocol bring-up, UART, SPI</a:t>
            </a:r>
          </a:p>
          <a:p>
            <a:pPr lvl="0" marL="457200" indent="-228600">
              <a:buFont typeface="Calibri"/>
              <a:spcAft>
                <a:spcPts val="1000"/>
              </a:spcAft>
              <a:buSzPct val="100000"/>
              <a:buChar char="•"/>
              <a:lnSpc>
                <a:spcPts val="2200"/>
              </a:lnSpc>
            </a:pPr>
            <a:r>
              <a:rPr sz="2000" b="0">
                <a:solidFill>
                  <a:srgbClr val="333333"/>
                </a:solidFill>
                <a:latin typeface="Calibri"/>
              </a:rPr>
              <a:t>For SystemVerilog language depth, continue learn Verilog modules</a:t>
            </a:r>
          </a:p>
          <a:p>
            <a:pPr lvl="0" marL="457200" indent="-228600">
              <a:buFont typeface="Calibri"/>
              <a:spcAft>
                <a:spcPts val="1000"/>
              </a:spcAft>
              <a:buSzPct val="100000"/>
              <a:buChar char="•"/>
              <a:lnSpc>
                <a:spcPts val="2200"/>
              </a:lnSpc>
            </a:pPr>
            <a:r>
              <a:rPr sz="2000" b="0">
                <a:solidFill>
                  <a:srgbClr val="333333"/>
                </a:solidFill>
                <a:latin typeface="Calibri"/>
              </a:rPr>
              <a:t>For UVM, climb that ladder when you need constrained-random environments, not before you</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learn_verilator — wrap</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Mindset to keep</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Fix RTL before blanket-disabling warnings</a:t>
            </a:r>
          </a:p>
          <a:p>
            <a:pPr lvl="0" marL="457200" indent="-228600">
              <a:buFont typeface="Calibri"/>
              <a:spcAft>
                <a:spcPts val="1000"/>
              </a:spcAft>
              <a:buSzPct val="100000"/>
              <a:buChar char="•"/>
              <a:lnSpc>
                <a:spcPts val="2200"/>
              </a:lnSpc>
            </a:pPr>
            <a:r>
              <a:rPr sz="2000" b="0">
                <a:solidFill>
                  <a:srgbClr val="333333"/>
                </a:solidFill>
                <a:latin typeface="Calibri"/>
              </a:rPr>
              <a:t>Keep C++ host and SV testbench paradigms straight</a:t>
            </a:r>
          </a:p>
          <a:p>
            <a:pPr lvl="0" marL="457200" indent="-228600">
              <a:buFont typeface="Calibri"/>
              <a:spcAft>
                <a:spcPts val="1000"/>
              </a:spcAft>
              <a:buSzPct val="100000"/>
              <a:buChar char="•"/>
              <a:lnSpc>
                <a:spcPts val="2200"/>
              </a:lnSpc>
            </a:pPr>
            <a:r>
              <a:rPr sz="2000" b="0">
                <a:solidFill>
                  <a:srgbClr val="333333"/>
                </a:solidFill>
                <a:latin typeface="Calibri"/>
              </a:rPr>
              <a:t>Turn dump on when you need waves</a:t>
            </a:r>
          </a:p>
          <a:p>
            <a:pPr lvl="0" marL="457200" indent="-228600">
              <a:buFont typeface="Calibri"/>
              <a:spcAft>
                <a:spcPts val="1000"/>
              </a:spcAft>
              <a:buSzPct val="100000"/>
              <a:buChar char="•"/>
              <a:lnSpc>
                <a:spcPts val="2200"/>
              </a:lnSpc>
            </a:pPr>
            <a:r>
              <a:rPr sz="2000" b="0">
                <a:solidFill>
                  <a:srgbClr val="333333"/>
                </a:solidFill>
                <a:latin typeface="Calibri"/>
              </a:rPr>
              <a:t>Mark public only what you must read</a:t>
            </a:r>
          </a:p>
          <a:p>
            <a:pPr lvl="0" marL="457200" indent="-228600">
              <a:buFont typeface="Calibri"/>
              <a:spcAft>
                <a:spcPts val="1000"/>
              </a:spcAft>
              <a:buSzPct val="100000"/>
              <a:buChar char="•"/>
              <a:lnSpc>
                <a:spcPts val="2200"/>
              </a:lnSpc>
            </a:pPr>
            <a:r>
              <a:rPr sz="2000" b="0">
                <a:solidFill>
                  <a:srgbClr val="333333"/>
                </a:solidFill>
                <a:latin typeface="Calibri"/>
              </a:rPr>
              <a:t>Treat escapes as BLOCKED until addressed</a:t>
            </a:r>
          </a:p>
          <a:p>
            <a:pPr lvl="0" marL="457200" indent="-228600">
              <a:buFont typeface="Calibri"/>
              <a:spcAft>
                <a:spcPts val="1000"/>
              </a:spcAft>
              <a:buSzPct val="100000"/>
              <a:buChar char="•"/>
              <a:lnSpc>
                <a:spcPts val="2200"/>
              </a:lnSpc>
            </a:pPr>
            <a:r>
              <a:rPr sz="2000" b="0">
                <a:solidFill>
                  <a:srgbClr val="333333"/>
                </a:solidFill>
                <a:latin typeface="Calibri"/>
              </a:rPr>
              <a:t>And remember</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learn_verilator — wrap</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Closing</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Check off the wrap checklist</a:t>
            </a:r>
          </a:p>
          <a:p>
            <a:pPr lvl="0" marL="457200" indent="-228600">
              <a:buFont typeface="Calibri"/>
              <a:spcAft>
                <a:spcPts val="1000"/>
              </a:spcAft>
              <a:buSzPct val="100000"/>
              <a:buChar char="•"/>
              <a:lnSpc>
                <a:spcPts val="2200"/>
              </a:lnSpc>
            </a:pPr>
            <a:r>
              <a:rPr sz="2000" b="0">
                <a:solidFill>
                  <a:srgbClr val="333333"/>
                </a:solidFill>
                <a:latin typeface="Calibri"/>
              </a:rPr>
              <a:t>You finished the learn Verilator path</a:t>
            </a:r>
          </a:p>
          <a:p>
            <a:pPr lvl="0" marL="457200" indent="-228600">
              <a:buFont typeface="Calibri"/>
              <a:spcAft>
                <a:spcPts val="1000"/>
              </a:spcAft>
              <a:buSzPct val="100000"/>
              <a:buChar char="•"/>
              <a:lnSpc>
                <a:spcPts val="2200"/>
              </a:lnSpc>
            </a:pPr>
            <a:r>
              <a:rPr sz="2000" b="0">
                <a:solidFill>
                  <a:srgbClr val="333333"/>
                </a:solidFill>
                <a:latin typeface="Calibri"/>
              </a:rPr>
              <a:t>Run one small regression or lint-clean example if you want a victory lap</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learn_verilator — wrap</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