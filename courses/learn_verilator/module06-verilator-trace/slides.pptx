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Waves require two cooperating pieces: a compile-time trace flag and host code that opens a trace file, dumps cycles, and closes cleanly. Verilator offers VCD and FST-style paths depending on flags. Trace without dump is OPEN— you paid for infrastructure but recorded nothing useful.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Enable trace at compile with the trace or trace-fst flags as your flow requires. In the host, create a trace pointer, open a file, call dump each eval step you care about, then close at shutdown. Dump without the compile flag is BLIND—you wrote files the model never instrumented. Both sides must agree.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trace lab, load the starter and pair compile flags with open, dump, and close steps until status reads ready. Scenarios deliberately show OPEN—flag without dump—and BLIND—dump without flag—so you learn the pairing, not just one magic checkbox.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Track A, run a tiny design with trace enabled, produce a wave file, and open it in a viewer. Point to the host lines that open and dump. Delete dump temporarily and notice OPEN behavior; compare to a correct run. Keep the file small—this module is trace literacy, not a farm dump.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enable trace and forget dump in the eval loop. Do not dump when compile never enabled trace—BLIND files mislead you. Do not leave trace files unclosed on long runs—flush and close matter. And do not open gigabyte waves when a short window suffices.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fix OPEN and BLIND scenarios to ready. In Track A, generate one viewable trace from a short run. When you are ready, take the short quiz, then continue to wave dump literacy.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Turning trace on</a:t>
            </a:r>
          </a:p>
          <a:p>
            <a:pPr algn="ctr">
              <a:lnSpc>
                <a:spcPts val="2200"/>
              </a:lnSpc>
              <a:spcBef>
                <a:spcPts val="1400"/>
              </a:spcBef>
            </a:pPr>
            <a:r>
              <a:rPr sz="2600" b="0">
                <a:solidFill>
                  <a:srgbClr val="333333"/>
                </a:solidFill>
                <a:latin typeface="Calibri"/>
              </a:rPr>
              <a:t>Waves require two cooperating pieces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verilator trace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Flag plus dump calls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Enable trace at compile with the trace or trace-fst flags as your flow requires</a:t>
            </a:r>
          </a:p>
          <a:p>
            <a:pPr lvl="0" marL="457200" indent="-228600">
              <a:buFont typeface="Calibri"/>
              <a:spcAft>
                <a:spcPts val="1000"/>
              </a:spcAft>
              <a:buSzPct val="100000"/>
              <a:buChar char="•"/>
              <a:lnSpc>
                <a:spcPts val="2200"/>
              </a:lnSpc>
            </a:pPr>
            <a:r>
              <a:rPr sz="2000" b="0">
                <a:solidFill>
                  <a:srgbClr val="333333"/>
                </a:solidFill>
                <a:latin typeface="Calibri"/>
              </a:rPr>
              <a:t>In the host, create a trace pointer, open a file, call dump each eval step you care about,</a:t>
            </a:r>
          </a:p>
          <a:p>
            <a:pPr lvl="0" marL="457200" indent="-228600">
              <a:buFont typeface="Calibri"/>
              <a:spcAft>
                <a:spcPts val="1000"/>
              </a:spcAft>
              <a:buSzPct val="100000"/>
              <a:buChar char="•"/>
              <a:lnSpc>
                <a:spcPts val="2200"/>
              </a:lnSpc>
            </a:pPr>
            <a:r>
              <a:rPr sz="2000" b="0">
                <a:solidFill>
                  <a:srgbClr val="333333"/>
                </a:solidFill>
                <a:latin typeface="Calibri"/>
              </a:rPr>
              <a:t>Dump without the compile flag is BLIND, you wrote files the model never instrumented</a:t>
            </a:r>
          </a:p>
          <a:p>
            <a:pPr lvl="0" marL="457200" indent="-228600">
              <a:buFont typeface="Calibri"/>
              <a:spcAft>
                <a:spcPts val="1000"/>
              </a:spcAft>
              <a:buSzPct val="100000"/>
              <a:buChar char="•"/>
              <a:lnSpc>
                <a:spcPts val="2200"/>
              </a:lnSpc>
            </a:pPr>
            <a:r>
              <a:rPr sz="2000" b="0">
                <a:solidFill>
                  <a:srgbClr val="333333"/>
                </a:solidFill>
                <a:latin typeface="Calibri"/>
              </a:rPr>
              <a:t>Both sides must agree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verilator trace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verilator trace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Verilator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Track A, run a tiny design with trace enabled, produce a wave file</a:t>
            </a:r>
          </a:p>
          <a:p>
            <a:pPr lvl="0" marL="457200" indent="-228600">
              <a:buFont typeface="Calibri"/>
              <a:spcAft>
                <a:spcPts val="1000"/>
              </a:spcAft>
              <a:buSzPct val="100000"/>
              <a:buChar char="•"/>
              <a:lnSpc>
                <a:spcPts val="2200"/>
              </a:lnSpc>
            </a:pPr>
            <a:r>
              <a:rPr sz="2000" b="0">
                <a:solidFill>
                  <a:srgbClr val="333333"/>
                </a:solidFill>
                <a:latin typeface="Calibri"/>
              </a:rPr>
              <a:t>Point to the host lines that open and dump</a:t>
            </a:r>
          </a:p>
          <a:p>
            <a:pPr lvl="0" marL="457200" indent="-228600">
              <a:buFont typeface="Calibri"/>
              <a:spcAft>
                <a:spcPts val="1000"/>
              </a:spcAft>
              <a:buSzPct val="100000"/>
              <a:buChar char="•"/>
              <a:lnSpc>
                <a:spcPts val="2200"/>
              </a:lnSpc>
            </a:pPr>
            <a:r>
              <a:rPr sz="2000" b="0">
                <a:solidFill>
                  <a:srgbClr val="333333"/>
                </a:solidFill>
                <a:latin typeface="Calibri"/>
              </a:rPr>
              <a:t>Delete dump temporarily and notice OPEN behavior; compare to a correct run</a:t>
            </a:r>
          </a:p>
          <a:p>
            <a:pPr lvl="0" marL="457200" indent="-228600">
              <a:buFont typeface="Calibri"/>
              <a:spcAft>
                <a:spcPts val="1000"/>
              </a:spcAft>
              <a:buSzPct val="100000"/>
              <a:buChar char="•"/>
              <a:lnSpc>
                <a:spcPts val="2200"/>
              </a:lnSpc>
            </a:pPr>
            <a:r>
              <a:rPr sz="2000" b="0">
                <a:solidFill>
                  <a:srgbClr val="333333"/>
                </a:solidFill>
                <a:latin typeface="Calibri"/>
              </a:rPr>
              <a:t>Keep the file small, this module is trace literacy, not a farm dump</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verilator trace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enable trace and forget dump in the eval loop</a:t>
            </a:r>
          </a:p>
          <a:p>
            <a:pPr lvl="0" marL="457200" indent="-228600">
              <a:buFont typeface="Calibri"/>
              <a:spcAft>
                <a:spcPts val="1000"/>
              </a:spcAft>
              <a:buSzPct val="100000"/>
              <a:buChar char="•"/>
              <a:lnSpc>
                <a:spcPts val="2200"/>
              </a:lnSpc>
            </a:pPr>
            <a:r>
              <a:rPr sz="2000" b="0">
                <a:solidFill>
                  <a:srgbClr val="333333"/>
                </a:solidFill>
                <a:latin typeface="Calibri"/>
              </a:rPr>
              <a:t>Do not dump when compile never enabled trace, BLIND files mislead you</a:t>
            </a:r>
          </a:p>
          <a:p>
            <a:pPr lvl="0" marL="457200" indent="-228600">
              <a:buFont typeface="Calibri"/>
              <a:spcAft>
                <a:spcPts val="1000"/>
              </a:spcAft>
              <a:buSzPct val="100000"/>
              <a:buChar char="•"/>
              <a:lnSpc>
                <a:spcPts val="2200"/>
              </a:lnSpc>
            </a:pPr>
            <a:r>
              <a:rPr sz="2000" b="0">
                <a:solidFill>
                  <a:srgbClr val="333333"/>
                </a:solidFill>
                <a:latin typeface="Calibri"/>
              </a:rPr>
              <a:t>Do not leave trace files unclosed on long runs, flush and close matter</a:t>
            </a:r>
          </a:p>
          <a:p>
            <a:pPr lvl="0" marL="457200" indent="-228600">
              <a:buFont typeface="Calibri"/>
              <a:spcAft>
                <a:spcPts val="1000"/>
              </a:spcAft>
              <a:buSzPct val="100000"/>
              <a:buChar char="•"/>
              <a:lnSpc>
                <a:spcPts val="2200"/>
              </a:lnSpc>
            </a:pPr>
            <a:r>
              <a:rPr sz="2000" b="0">
                <a:solidFill>
                  <a:srgbClr val="333333"/>
                </a:solidFill>
                <a:latin typeface="Calibri"/>
              </a:rPr>
              <a:t>And do not open gigabyte waves when a short window suffices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verilator trace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fix OPEN and BLIND scenarios to ready</a:t>
            </a:r>
          </a:p>
          <a:p>
            <a:pPr lvl="0" marL="457200" indent="-228600">
              <a:buFont typeface="Calibri"/>
              <a:spcAft>
                <a:spcPts val="1000"/>
              </a:spcAft>
              <a:buSzPct val="100000"/>
              <a:buChar char="•"/>
              <a:lnSpc>
                <a:spcPts val="2200"/>
              </a:lnSpc>
            </a:pPr>
            <a:r>
              <a:rPr sz="2000" b="0">
                <a:solidFill>
                  <a:srgbClr val="333333"/>
                </a:solidFill>
                <a:latin typeface="Calibri"/>
              </a:rPr>
              <a:t>In Track A, generate one viewable trace from a short run</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wave dump literacy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verilator trace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