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learn Verilator. This path treats Verilator as a tool you can rely on every day: lint your RTL, wrap it in a C++ or DPI testbench, capture traces, and read verification metrics. You are not here for a full UVM course—that lives elsewhere. You are here to get fast, cycle-accurate simulation working in a real 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modules you will choose when Verilator beats Icarus, walk the compile-to-run pipeline, clean up lint with intent, host a C++ testbench with an eval loop, generate clock and reset patterns that release cleanly, turn tracing on and dump waves you can actually open, expose only what the host needs, and glance at pass rate and coverage before sign-off. Module ten is an offline build-and-run capstone; module eleven closes the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A is real Verilator on your machine: a C++ toolchain, Makefiles, and examples in the legacy Verilator course tree. Track B is the platform’s simulation literacy labs—browser challenges for chooser, pipeline, lint, trace, and metrics ideas. You may do either track, or both. A good rhythm is browser lab first for the vocabulary, then Track A for fidelity.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Verilator and confirm the version command works in your shell. Open this course folder and skim module READMEs and EXAMPLES prompts as you go. When a module offers a self-check script, use it to grade checklist items. Keep the sibling Icarus course in mind—you will compare the two tools early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root, serve the platform folder with a simple local web server, then open the tools index and jump to the Simulation literacy section. All nine Verilator browser labs ship on the live site too. Confirm you can reach the index—the next module sends you into the Icarus versus Verilator chooser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Prefer Track B when you want graded challenges; prefer Track A when you want install fidelity and real VCD or FST files. When you finish this intro checklist, continue to Icarus versus Verilator.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Verilator</a:t>
            </a:r>
          </a:p>
          <a:p>
            <a:pPr algn="ctr">
              <a:lnSpc>
                <a:spcPts val="2200"/>
              </a:lnSpc>
              <a:spcBef>
                <a:spcPts val="1400"/>
              </a:spcBef>
            </a:pPr>
            <a:r>
              <a:rPr sz="2600" b="0">
                <a:solidFill>
                  <a:srgbClr val="333333"/>
                </a:solidFill>
                <a:latin typeface="Calibri"/>
              </a:rPr>
              <a:t>Welcome to learn Verilator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will build toward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Glance at pass rate and coverage before sign-off</a:t>
            </a:r>
          </a:p>
          <a:p>
            <a:pPr lvl="0" marL="457200" indent="-228600">
              <a:buFont typeface="Calibri"/>
              <a:spcAft>
                <a:spcPts val="1000"/>
              </a:spcAft>
              <a:buSzPct val="100000"/>
              <a:buChar char="•"/>
              <a:lnSpc>
                <a:spcPts val="2200"/>
              </a:lnSpc>
            </a:pPr>
            <a:r>
              <a:rPr sz="2000" b="0">
                <a:solidFill>
                  <a:srgbClr val="333333"/>
                </a:solidFill>
                <a:latin typeface="Calibri"/>
              </a:rPr>
              <a:t>Module ten is an offline build-and-run capstone; module eleven closes the loop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Track A is real Verilator on your machine</a:t>
            </a:r>
          </a:p>
          <a:p>
            <a:pPr lvl="0" marL="457200" indent="-228600">
              <a:buFont typeface="Calibri"/>
              <a:spcAft>
                <a:spcPts val="1000"/>
              </a:spcAft>
              <a:buSzPct val="100000"/>
              <a:buChar char="•"/>
              <a:lnSpc>
                <a:spcPts val="2200"/>
              </a:lnSpc>
            </a:pPr>
            <a:r>
              <a:rPr sz="2000" b="0">
                <a:solidFill>
                  <a:srgbClr val="333333"/>
                </a:solidFill>
                <a:latin typeface="Calibri"/>
              </a:rPr>
              <a:t>Metrics ideas</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lab first for the vocabulary, then Track A for fidelity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Install Verilator and confirm the version command works in your shell</a:t>
            </a:r>
          </a:p>
          <a:p>
            <a:pPr lvl="0" marL="457200" indent="-228600">
              <a:buFont typeface="Calibri"/>
              <a:spcAft>
                <a:spcPts val="1000"/>
              </a:spcAft>
              <a:buSzPct val="100000"/>
              <a:buChar char="•"/>
              <a:lnSpc>
                <a:spcPts val="2200"/>
              </a:lnSpc>
            </a:pPr>
            <a:r>
              <a:rPr sz="2000" b="0">
                <a:solidFill>
                  <a:srgbClr val="333333"/>
                </a:solidFill>
                <a:latin typeface="Calibri"/>
              </a:rPr>
              <a:t>Open this course folder and skim module READMEs and EXAMPLES prompts as you go</a:t>
            </a:r>
          </a:p>
          <a:p>
            <a:pPr lvl="0" marL="457200" indent="-228600">
              <a:buFont typeface="Calibri"/>
              <a:spcAft>
                <a:spcPts val="1000"/>
              </a:spcAft>
              <a:buSzPct val="100000"/>
              <a:buChar char="•"/>
              <a:lnSpc>
                <a:spcPts val="2200"/>
              </a:lnSpc>
            </a:pPr>
            <a:r>
              <a:rPr sz="2000" b="0">
                <a:solidFill>
                  <a:srgbClr val="333333"/>
                </a:solidFill>
                <a:latin typeface="Calibri"/>
              </a:rPr>
              <a:t>When a module offers a self-check script, use it to grade checklist items</a:t>
            </a:r>
          </a:p>
          <a:p>
            <a:pPr lvl="0" marL="457200" indent="-228600">
              <a:buFont typeface="Calibri"/>
              <a:spcAft>
                <a:spcPts val="1000"/>
              </a:spcAft>
              <a:buSzPct val="100000"/>
              <a:buChar char="•"/>
              <a:lnSpc>
                <a:spcPts val="2200"/>
              </a:lnSpc>
            </a:pPr>
            <a:r>
              <a:rPr sz="2000" b="0">
                <a:solidFill>
                  <a:srgbClr val="333333"/>
                </a:solidFill>
                <a:latin typeface="Calibri"/>
              </a:rPr>
              <a:t>Keep the sibling Icarus course in mind, you will compare the two tools early 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B</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 root</a:t>
            </a:r>
          </a:p>
          <a:p>
            <a:pPr lvl="0" marL="457200" indent="-228600">
              <a:buFont typeface="Calibri"/>
              <a:spcAft>
                <a:spcPts val="1000"/>
              </a:spcAft>
              <a:buSzPct val="100000"/>
              <a:buChar char="•"/>
              <a:lnSpc>
                <a:spcPts val="2200"/>
              </a:lnSpc>
            </a:pPr>
            <a:r>
              <a:rPr sz="2000" b="0">
                <a:solidFill>
                  <a:srgbClr val="333333"/>
                </a:solidFill>
                <a:latin typeface="Calibri"/>
              </a:rPr>
              <a:t>All nine Verilator browser labs ship on the live site too</a:t>
            </a:r>
          </a:p>
          <a:p>
            <a:pPr lvl="0" marL="457200" indent="-228600">
              <a:buFont typeface="Calibri"/>
              <a:spcAft>
                <a:spcPts val="1000"/>
              </a:spcAft>
              <a:buSzPct val="100000"/>
              <a:buChar char="•"/>
              <a:lnSpc>
                <a:spcPts val="2200"/>
              </a:lnSpc>
            </a:pPr>
            <a:r>
              <a:rPr sz="2000" b="0">
                <a:solidFill>
                  <a:srgbClr val="333333"/>
                </a:solidFill>
                <a:latin typeface="Calibri"/>
              </a:rPr>
              <a:t>Confirm you can reach the index</a:t>
            </a:r>
          </a:p>
        </p:txBody>
      </p:sp>
      <p:pic>
        <p:nvPicPr>
          <p:cNvPr id="4" name="Picture 3" descr="tools-index.png"/>
          <p:cNvPicPr>
            <a:picLocks noChangeAspect="1"/>
          </p:cNvPicPr>
          <p:nvPr/>
        </p:nvPicPr>
        <p:blipFill>
          <a:blip r:embed="rId2"/>
          <a:stretch>
            <a:fillRect/>
          </a:stretch>
        </p:blipFill>
        <p:spPr>
          <a:xfrm>
            <a:off x="6172200" y="1715214"/>
            <a:ext cx="5394960" cy="3793331"/>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Prefer Track B when you want graded challenges</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Icarus versus Verilator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