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VCD is familiar and portable for quick debug. FST compresses better for long farm runs and large designs. The literacy lab names scenarios—quick debug, long regression farm, portable share—and asks which format fits. In every case, dumping must actually be on—not a pretend filename.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quick debug on a tiny block, VCD is often fine. For overnight farms with millions of cycles, prefer FST to keep disks sane. When you share a snippet with a colleague on another tool, think portable VCD—or confirm their viewer reads FST. Regardless of format, trace compile flags and dump calls must be active or you get empty pride.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wave dump lab, load the starter and map scenarios to VCD or FST choices until status reads ready. Challenges include dump switched off—fix the flow so recording is truly on. Treat wrong format picks as teaching moments about disk size and viewer support.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Track A, produce one small VCD and, if your flow supports it, one small FST from the same tiny design. Compare file sizes and open both in your viewer. Note which Makefile variables or flags differ. Keep runs short—this is format literacy, not volume testing.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pick FST then forget trace-fst at compile. Do not share a zero-byte file because dump never ran. Do not use farm-scale dumps for a five-signal typo debug. And do not assume every viewer supports every format—check before you send.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pass scenario chooser challenges with dump truly enabled. In Track A, open one real trace you created. When you are ready, take the short quiz, then continue to Verilator public visibility.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Pick the wave format</a:t>
            </a:r>
          </a:p>
          <a:p>
            <a:pPr algn="ctr">
              <a:lnSpc>
                <a:spcPts val="2200"/>
              </a:lnSpc>
              <a:spcBef>
                <a:spcPts val="1400"/>
              </a:spcBef>
            </a:pPr>
            <a:r>
              <a:rPr sz="2600" b="0">
                <a:solidFill>
                  <a:srgbClr val="333333"/>
                </a:solidFill>
                <a:latin typeface="Calibri"/>
              </a:rPr>
              <a:t>VCD is familiar and portable for quick debug</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wave dump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Scenario-first choice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For quick debug on a tiny block, VCD is often fine</a:t>
            </a:r>
          </a:p>
          <a:p>
            <a:pPr lvl="0" marL="457200" indent="-228600">
              <a:buFont typeface="Calibri"/>
              <a:spcAft>
                <a:spcPts val="1000"/>
              </a:spcAft>
              <a:buSzPct val="100000"/>
              <a:buChar char="•"/>
              <a:lnSpc>
                <a:spcPts val="2200"/>
              </a:lnSpc>
            </a:pPr>
            <a:r>
              <a:rPr sz="2000" b="0">
                <a:solidFill>
                  <a:srgbClr val="333333"/>
                </a:solidFill>
                <a:latin typeface="Calibri"/>
              </a:rPr>
              <a:t>For overnight farms with millions of cycles, prefer FST to keep disks sane</a:t>
            </a:r>
          </a:p>
          <a:p>
            <a:pPr lvl="0" marL="457200" indent="-228600">
              <a:buFont typeface="Calibri"/>
              <a:spcAft>
                <a:spcPts val="1000"/>
              </a:spcAft>
              <a:buSzPct val="100000"/>
              <a:buChar char="•"/>
              <a:lnSpc>
                <a:spcPts val="2200"/>
              </a:lnSpc>
            </a:pPr>
            <a:r>
              <a:rPr sz="2000" b="0">
                <a:solidFill>
                  <a:srgbClr val="333333"/>
                </a:solidFill>
                <a:latin typeface="Calibri"/>
              </a:rPr>
              <a:t>When you share a snippet with a colleague on another tool</a:t>
            </a:r>
          </a:p>
          <a:p>
            <a:pPr lvl="0" marL="457200" indent="-228600">
              <a:buFont typeface="Calibri"/>
              <a:spcAft>
                <a:spcPts val="1000"/>
              </a:spcAft>
              <a:buSzPct val="100000"/>
              <a:buChar char="•"/>
              <a:lnSpc>
                <a:spcPts val="2200"/>
              </a:lnSpc>
            </a:pPr>
            <a:r>
              <a:rPr sz="2000" b="0">
                <a:solidFill>
                  <a:srgbClr val="333333"/>
                </a:solidFill>
                <a:latin typeface="Calibri"/>
              </a:rPr>
              <a:t>Regardless of format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wave dump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wave dump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Verilator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Track A, produce one small VCD and, if your flow supports it, one small FST from the</a:t>
            </a:r>
          </a:p>
          <a:p>
            <a:pPr lvl="0" marL="457200" indent="-228600">
              <a:buFont typeface="Calibri"/>
              <a:spcAft>
                <a:spcPts val="1000"/>
              </a:spcAft>
              <a:buSzPct val="100000"/>
              <a:buChar char="•"/>
              <a:lnSpc>
                <a:spcPts val="2200"/>
              </a:lnSpc>
            </a:pPr>
            <a:r>
              <a:rPr sz="2000" b="0">
                <a:solidFill>
                  <a:srgbClr val="333333"/>
                </a:solidFill>
                <a:latin typeface="Calibri"/>
              </a:rPr>
              <a:t>Compare file sizes and open both in your viewer</a:t>
            </a:r>
          </a:p>
          <a:p>
            <a:pPr lvl="0" marL="457200" indent="-228600">
              <a:buFont typeface="Calibri"/>
              <a:spcAft>
                <a:spcPts val="1000"/>
              </a:spcAft>
              <a:buSzPct val="100000"/>
              <a:buChar char="•"/>
              <a:lnSpc>
                <a:spcPts val="2200"/>
              </a:lnSpc>
            </a:pPr>
            <a:r>
              <a:rPr sz="2000" b="0">
                <a:solidFill>
                  <a:srgbClr val="333333"/>
                </a:solidFill>
                <a:latin typeface="Calibri"/>
              </a:rPr>
              <a:t>Note which Makefile variables or flags differ</a:t>
            </a:r>
          </a:p>
          <a:p>
            <a:pPr lvl="0" marL="457200" indent="-228600">
              <a:buFont typeface="Calibri"/>
              <a:spcAft>
                <a:spcPts val="1000"/>
              </a:spcAft>
              <a:buSzPct val="100000"/>
              <a:buChar char="•"/>
              <a:lnSpc>
                <a:spcPts val="2200"/>
              </a:lnSpc>
            </a:pPr>
            <a:r>
              <a:rPr sz="2000" b="0">
                <a:solidFill>
                  <a:srgbClr val="333333"/>
                </a:solidFill>
                <a:latin typeface="Calibri"/>
              </a:rPr>
              <a:t>Keep runs short, this is format literacy, not volume testing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wave dump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pick FST then forget trace-fst at compile</a:t>
            </a:r>
          </a:p>
          <a:p>
            <a:pPr lvl="0" marL="457200" indent="-228600">
              <a:buFont typeface="Calibri"/>
              <a:spcAft>
                <a:spcPts val="1000"/>
              </a:spcAft>
              <a:buSzPct val="100000"/>
              <a:buChar char="•"/>
              <a:lnSpc>
                <a:spcPts val="2200"/>
              </a:lnSpc>
            </a:pPr>
            <a:r>
              <a:rPr sz="2000" b="0">
                <a:solidFill>
                  <a:srgbClr val="333333"/>
                </a:solidFill>
                <a:latin typeface="Calibri"/>
              </a:rPr>
              <a:t>Do not share a zero-byte file because dump never ran</a:t>
            </a:r>
          </a:p>
          <a:p>
            <a:pPr lvl="0" marL="457200" indent="-228600">
              <a:buFont typeface="Calibri"/>
              <a:spcAft>
                <a:spcPts val="1000"/>
              </a:spcAft>
              <a:buSzPct val="100000"/>
              <a:buChar char="•"/>
              <a:lnSpc>
                <a:spcPts val="2200"/>
              </a:lnSpc>
            </a:pPr>
            <a:r>
              <a:rPr sz="2000" b="0">
                <a:solidFill>
                  <a:srgbClr val="333333"/>
                </a:solidFill>
                <a:latin typeface="Calibri"/>
              </a:rPr>
              <a:t>Do not use farm-scale dumps for a five-signal typo debug</a:t>
            </a:r>
          </a:p>
          <a:p>
            <a:pPr lvl="0" marL="457200" indent="-228600">
              <a:buFont typeface="Calibri"/>
              <a:spcAft>
                <a:spcPts val="1000"/>
              </a:spcAft>
              <a:buSzPct val="100000"/>
              <a:buChar char="•"/>
              <a:lnSpc>
                <a:spcPts val="2200"/>
              </a:lnSpc>
            </a:pPr>
            <a:r>
              <a:rPr sz="2000" b="0">
                <a:solidFill>
                  <a:srgbClr val="333333"/>
                </a:solidFill>
                <a:latin typeface="Calibri"/>
              </a:rPr>
              <a:t>And do not assume every viewer supports every format, check before you send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wave dump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pass scenario chooser challenges with dump truly enabled</a:t>
            </a:r>
          </a:p>
          <a:p>
            <a:pPr lvl="0" marL="457200" indent="-228600">
              <a:buFont typeface="Calibri"/>
              <a:spcAft>
                <a:spcPts val="1000"/>
              </a:spcAft>
              <a:buSzPct val="100000"/>
              <a:buChar char="•"/>
              <a:lnSpc>
                <a:spcPts val="2200"/>
              </a:lnSpc>
            </a:pPr>
            <a:r>
              <a:rPr sz="2000" b="0">
                <a:solidFill>
                  <a:srgbClr val="333333"/>
                </a:solidFill>
                <a:latin typeface="Calibri"/>
              </a:rPr>
              <a:t>In Track A, open one real trace you created</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Verilator public visibility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wave dump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