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Verilator’s native cosim shape is a C++ host driving a generated model pointer—traditionally Vtop—inside an eval loop. That is a different paradigm from a classic SystemVerilog testbench with initial blocks and forever clocks. This module keeps the paradigms separate so you do not mix them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host allocates the model, toggles inputs, calls eval for each time step, and checks outputs in C++. DPI can bridge to C functions when you need it, but DPI is optional glue—not a replacement for knowing where the eval loop lives. A classic SV testbench compiled elsewhere follows different rules; do not paste UVM-style TB into a Verilator C++ main and hope.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and identify host, model, and eval loop regions on the diagram. Challenges ask which code belongs in C++ main versus RTL versus optional DPI imports. Finish with status ready when you can sketch the loop in plain language.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open a minimal C++ host example from EXAMPLES or the legacy tree. Point to where the model is constructed, where eval is called in a loop, and where the run ends. If DPI appears, name one function it exports or imports—optional detail, not the whole 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mix a full SV event testbench paradigm with a Verilator C++ main in the same flow without knowing exactly what you are doing. Do not call eval once and assume time advanced forever. Do not treat DPI as mandatory—many flows are pure C++. And do not debug RTL in waves before confirming the host actually stepped cycles.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label host, model, and eval loop correctly. In Track A, run one tiny C++ host binary once. When you are ready, take the short quiz, then continue to clock and reset patterns.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 host testbench</a:t>
            </a:r>
          </a:p>
          <a:p>
            <a:pPr algn="ctr">
              <a:lnSpc>
                <a:spcPts val="2200"/>
              </a:lnSpc>
              <a:spcBef>
                <a:spcPts val="1400"/>
              </a:spcBef>
            </a:pPr>
            <a:r>
              <a:rPr sz="2600" b="0">
                <a:solidFill>
                  <a:srgbClr val="333333"/>
                </a:solidFill>
                <a:latin typeface="Calibri"/>
              </a:rPr>
              <a:t>Verilator’s native cosim shape is a C++ host driving a generated model pointer, traditionally Vtop, inside an eval loop</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dpi cpp tb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Eval loop vs SV TB</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host allocates the model, toggles inputs, calls eval for each time step</a:t>
            </a:r>
          </a:p>
          <a:p>
            <a:pPr lvl="0" marL="457200" indent="-228600">
              <a:buFont typeface="Calibri"/>
              <a:spcAft>
                <a:spcPts val="1000"/>
              </a:spcAft>
              <a:buSzPct val="100000"/>
              <a:buChar char="•"/>
              <a:lnSpc>
                <a:spcPts val="2200"/>
              </a:lnSpc>
            </a:pPr>
            <a:r>
              <a:rPr sz="2000" b="0">
                <a:solidFill>
                  <a:srgbClr val="333333"/>
                </a:solidFill>
                <a:latin typeface="Calibri"/>
              </a:rPr>
              <a:t>DPI can bridge to C functions when you need it</a:t>
            </a:r>
          </a:p>
          <a:p>
            <a:pPr lvl="0" marL="457200" indent="-228600">
              <a:buFont typeface="Calibri"/>
              <a:spcAft>
                <a:spcPts val="1000"/>
              </a:spcAft>
              <a:buSzPct val="100000"/>
              <a:buChar char="•"/>
              <a:lnSpc>
                <a:spcPts val="2200"/>
              </a:lnSpc>
            </a:pPr>
            <a:r>
              <a:rPr sz="2000" b="0">
                <a:solidFill>
                  <a:srgbClr val="333333"/>
                </a:solidFill>
                <a:latin typeface="Calibri"/>
              </a:rPr>
              <a:t>A classic SV testbench compiled elsewhere follows different rules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dpi cpp tb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dpi cpp tb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open a minimal C++ host example from EXAMPLES or the legacy tree</a:t>
            </a:r>
          </a:p>
          <a:p>
            <a:pPr lvl="0" marL="457200" indent="-228600">
              <a:buFont typeface="Calibri"/>
              <a:spcAft>
                <a:spcPts val="1000"/>
              </a:spcAft>
              <a:buSzPct val="100000"/>
              <a:buChar char="•"/>
              <a:lnSpc>
                <a:spcPts val="2200"/>
              </a:lnSpc>
            </a:pPr>
            <a:r>
              <a:rPr sz="2000" b="0">
                <a:solidFill>
                  <a:srgbClr val="333333"/>
                </a:solidFill>
                <a:latin typeface="Calibri"/>
              </a:rPr>
              <a:t>Point to where the model is constructed, where eval is called in a loop</a:t>
            </a:r>
          </a:p>
          <a:p>
            <a:pPr lvl="0" marL="457200" indent="-228600">
              <a:buFont typeface="Calibri"/>
              <a:spcAft>
                <a:spcPts val="1000"/>
              </a:spcAft>
              <a:buSzPct val="100000"/>
              <a:buChar char="•"/>
              <a:lnSpc>
                <a:spcPts val="2200"/>
              </a:lnSpc>
            </a:pPr>
            <a:r>
              <a:rPr sz="2000" b="0">
                <a:solidFill>
                  <a:srgbClr val="333333"/>
                </a:solidFill>
                <a:latin typeface="Calibri"/>
              </a:rPr>
              <a:t>If DPI appears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dpi cpp tb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mix a full SV event testbench paradigm with a Verilator C++ main in the same flow</a:t>
            </a:r>
          </a:p>
          <a:p>
            <a:pPr lvl="0" marL="457200" indent="-228600">
              <a:buFont typeface="Calibri"/>
              <a:spcAft>
                <a:spcPts val="1000"/>
              </a:spcAft>
              <a:buSzPct val="100000"/>
              <a:buChar char="•"/>
              <a:lnSpc>
                <a:spcPts val="2200"/>
              </a:lnSpc>
            </a:pPr>
            <a:r>
              <a:rPr sz="2000" b="0">
                <a:solidFill>
                  <a:srgbClr val="333333"/>
                </a:solidFill>
                <a:latin typeface="Calibri"/>
              </a:rPr>
              <a:t>Do not call eval once and assume time advanced forever</a:t>
            </a:r>
          </a:p>
          <a:p>
            <a:pPr lvl="0" marL="457200" indent="-228600">
              <a:buFont typeface="Calibri"/>
              <a:spcAft>
                <a:spcPts val="1000"/>
              </a:spcAft>
              <a:buSzPct val="100000"/>
              <a:buChar char="•"/>
              <a:lnSpc>
                <a:spcPts val="2200"/>
              </a:lnSpc>
            </a:pPr>
            <a:r>
              <a:rPr sz="2000" b="0">
                <a:solidFill>
                  <a:srgbClr val="333333"/>
                </a:solidFill>
                <a:latin typeface="Calibri"/>
              </a:rPr>
              <a:t>Do not treat DPI as mandatory, many flows are pure C++</a:t>
            </a:r>
          </a:p>
          <a:p>
            <a:pPr lvl="0" marL="457200" indent="-228600">
              <a:buFont typeface="Calibri"/>
              <a:spcAft>
                <a:spcPts val="1000"/>
              </a:spcAft>
              <a:buSzPct val="100000"/>
              <a:buChar char="•"/>
              <a:lnSpc>
                <a:spcPts val="2200"/>
              </a:lnSpc>
            </a:pPr>
            <a:r>
              <a:rPr sz="2000" b="0">
                <a:solidFill>
                  <a:srgbClr val="333333"/>
                </a:solidFill>
                <a:latin typeface="Calibri"/>
              </a:rPr>
              <a:t>And do not debug RTL in waves before confirming the host actually stepped cycles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dpi cpp tb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label host, model, and eval loop correctly</a:t>
            </a:r>
          </a:p>
          <a:p>
            <a:pPr lvl="0" marL="457200" indent="-228600">
              <a:buFont typeface="Calibri"/>
              <a:spcAft>
                <a:spcPts val="1000"/>
              </a:spcAft>
              <a:buSzPct val="100000"/>
              <a:buChar char="•"/>
              <a:lnSpc>
                <a:spcPts val="2200"/>
              </a:lnSpc>
            </a:pPr>
            <a:r>
              <a:rPr sz="2000" b="0">
                <a:solidFill>
                  <a:srgbClr val="333333"/>
                </a:solidFill>
                <a:latin typeface="Calibri"/>
              </a:rPr>
              <a:t>In Track A, run one tiny C++ host binary once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clock and reset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dpi cpp tb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