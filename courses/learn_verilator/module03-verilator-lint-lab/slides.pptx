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Lint is cheap insurance. Verilator’s linter catches width mismatches, unused signals, inferred latches, and incomplete case statements before you spend an hour in waves. Turn warnings on with wall-class strictness and treat CLEAN, BLIND, and warnings-as-errors as deliberate policy choices—not accidents.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for UNUSED—something you declared but never read. WIDTH—expressions that do not line up. LATCH—inferred storage you did not mean. CASEINCOMPLETE—case statements without a default or full coverage. The literacy lab tags these families so you learn the fix, not only the flag name.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lint lab, load the starter design and practice CLEAN versus BLIND versus warnings-as-error modes. A BLIND run hides problems; CLEAN surfaces them; treating warnings as errors forces zero tolerance. Challenges ask you to fix RTL—not merely silence with blanket no-warning flags.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lint a tiny module with wall-level warnings enabled. Introduce one intentional WIDTH or UNUSED issue, see the message, then fix the RTL properly. Avoid the reflex to blanket-disable warnings unless you have documented why. Self-check scripts can confirm you reached a clean lint 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blanket-disable warnings to greenwash a broken design. Do not confuse BLIND with CLEAN—no output is not the same as no problems. Do not ship with warnings-as-errors until your tree is actually clean. And remember: lint passes do not replace simulation—they narrow the search space.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reach CLEAN on at least one challenge without only silencing flags. In Track A, run lint with strict warnings once. When you are ready, take the short quiz, then continue to C++ testbench and DPI.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Verilator lint</a:t>
            </a:r>
          </a:p>
          <a:p>
            <a:pPr algn="ctr">
              <a:lnSpc>
                <a:spcPts val="2200"/>
              </a:lnSpc>
              <a:spcBef>
                <a:spcPts val="1400"/>
              </a:spcBef>
            </a:pPr>
            <a:r>
              <a:rPr sz="2600" b="0">
                <a:solidFill>
                  <a:srgbClr val="333333"/>
                </a:solidFill>
                <a:latin typeface="Calibri"/>
              </a:rPr>
              <a:t>Lint is cheap insurance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warning families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Watch for UNUSED, something you declared but never read</a:t>
            </a:r>
          </a:p>
          <a:p>
            <a:pPr lvl="0" marL="457200" indent="-228600">
              <a:buFont typeface="Calibri"/>
              <a:spcAft>
                <a:spcPts val="1000"/>
              </a:spcAft>
              <a:buSzPct val="100000"/>
              <a:buChar char="•"/>
              <a:lnSpc>
                <a:spcPts val="2200"/>
              </a:lnSpc>
            </a:pPr>
            <a:r>
              <a:rPr sz="2000" b="0">
                <a:solidFill>
                  <a:srgbClr val="333333"/>
                </a:solidFill>
                <a:latin typeface="Calibri"/>
              </a:rPr>
              <a:t>WIDTH, expressions that do not line up</a:t>
            </a:r>
          </a:p>
          <a:p>
            <a:pPr lvl="0" marL="457200" indent="-228600">
              <a:buFont typeface="Calibri"/>
              <a:spcAft>
                <a:spcPts val="1000"/>
              </a:spcAft>
              <a:buSzPct val="100000"/>
              <a:buChar char="•"/>
              <a:lnSpc>
                <a:spcPts val="2200"/>
              </a:lnSpc>
            </a:pPr>
            <a:r>
              <a:rPr sz="2000" b="0">
                <a:solidFill>
                  <a:srgbClr val="333333"/>
                </a:solidFill>
                <a:latin typeface="Calibri"/>
              </a:rPr>
              <a:t>LATCH, inferred storage you did not mean</a:t>
            </a:r>
          </a:p>
          <a:p>
            <a:pPr lvl="0" marL="457200" indent="-228600">
              <a:buFont typeface="Calibri"/>
              <a:spcAft>
                <a:spcPts val="1000"/>
              </a:spcAft>
              <a:buSzPct val="100000"/>
              <a:buChar char="•"/>
              <a:lnSpc>
                <a:spcPts val="2200"/>
              </a:lnSpc>
            </a:pPr>
            <a:r>
              <a:rPr sz="2000" b="0">
                <a:solidFill>
                  <a:srgbClr val="333333"/>
                </a:solidFill>
                <a:latin typeface="Calibri"/>
              </a:rPr>
              <a:t>CASEINCOMPLETE, case statements without a default or full coverage</a:t>
            </a:r>
          </a:p>
          <a:p>
            <a:pPr lvl="0" marL="457200" indent="-228600">
              <a:buFont typeface="Calibri"/>
              <a:spcAft>
                <a:spcPts val="1000"/>
              </a:spcAft>
              <a:buSzPct val="100000"/>
              <a:buChar char="•"/>
              <a:lnSpc>
                <a:spcPts val="2200"/>
              </a:lnSpc>
            </a:pPr>
            <a:r>
              <a:rPr sz="2000" b="0">
                <a:solidFill>
                  <a:srgbClr val="333333"/>
                </a:solidFill>
                <a:latin typeface="Calibri"/>
              </a:rPr>
              <a:t>The literacy lab tags these families so you learn the fix, not only the flag name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lint a tiny module with wall-level warnings enabled</a:t>
            </a:r>
          </a:p>
          <a:p>
            <a:pPr lvl="0" marL="457200" indent="-228600">
              <a:buFont typeface="Calibri"/>
              <a:spcAft>
                <a:spcPts val="1000"/>
              </a:spcAft>
              <a:buSzPct val="100000"/>
              <a:buChar char="•"/>
              <a:lnSpc>
                <a:spcPts val="2200"/>
              </a:lnSpc>
            </a:pPr>
            <a:r>
              <a:rPr sz="2000" b="0">
                <a:solidFill>
                  <a:srgbClr val="333333"/>
                </a:solidFill>
                <a:latin typeface="Calibri"/>
              </a:rPr>
              <a:t>Introduce one intentional WIDTH or UNUSED issue</a:t>
            </a:r>
          </a:p>
          <a:p>
            <a:pPr lvl="0" marL="457200" indent="-228600">
              <a:buFont typeface="Calibri"/>
              <a:spcAft>
                <a:spcPts val="1000"/>
              </a:spcAft>
              <a:buSzPct val="100000"/>
              <a:buChar char="•"/>
              <a:lnSpc>
                <a:spcPts val="2200"/>
              </a:lnSpc>
            </a:pPr>
            <a:r>
              <a:rPr sz="2000" b="0">
                <a:solidFill>
                  <a:srgbClr val="333333"/>
                </a:solidFill>
                <a:latin typeface="Calibri"/>
              </a:rPr>
              <a:t>Avoid the reflex to blanket-disable warnings unless you have documented why</a:t>
            </a:r>
          </a:p>
          <a:p>
            <a:pPr lvl="0" marL="457200" indent="-228600">
              <a:buFont typeface="Calibri"/>
              <a:spcAft>
                <a:spcPts val="1000"/>
              </a:spcAft>
              <a:buSzPct val="100000"/>
              <a:buChar char="•"/>
              <a:lnSpc>
                <a:spcPts val="2200"/>
              </a:lnSpc>
            </a:pPr>
            <a:r>
              <a:rPr sz="2000" b="0">
                <a:solidFill>
                  <a:srgbClr val="333333"/>
                </a:solidFill>
                <a:latin typeface="Calibri"/>
              </a:rPr>
              <a:t>Self-check scripts can confirm you reached a clean lint pass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blanket-disable warnings to greenwash a broken design</a:t>
            </a:r>
          </a:p>
          <a:p>
            <a:pPr lvl="0" marL="457200" indent="-228600">
              <a:buFont typeface="Calibri"/>
              <a:spcAft>
                <a:spcPts val="1000"/>
              </a:spcAft>
              <a:buSzPct val="100000"/>
              <a:buChar char="•"/>
              <a:lnSpc>
                <a:spcPts val="2200"/>
              </a:lnSpc>
            </a:pPr>
            <a:r>
              <a:rPr sz="2000" b="0">
                <a:solidFill>
                  <a:srgbClr val="333333"/>
                </a:solidFill>
                <a:latin typeface="Calibri"/>
              </a:rPr>
              <a:t>Do not confuse BLIND with CLEAN, no output is not the same as no problems</a:t>
            </a:r>
          </a:p>
          <a:p>
            <a:pPr lvl="0" marL="457200" indent="-228600">
              <a:buFont typeface="Calibri"/>
              <a:spcAft>
                <a:spcPts val="1000"/>
              </a:spcAft>
              <a:buSzPct val="100000"/>
              <a:buChar char="•"/>
              <a:lnSpc>
                <a:spcPts val="2200"/>
              </a:lnSpc>
            </a:pPr>
            <a:r>
              <a:rPr sz="2000" b="0">
                <a:solidFill>
                  <a:srgbClr val="333333"/>
                </a:solidFill>
                <a:latin typeface="Calibri"/>
              </a:rPr>
              <a:t>Do not ship with warnings-as-errors until your tree is actually clean</a:t>
            </a:r>
          </a:p>
          <a:p>
            <a:pPr lvl="0" marL="457200" indent="-228600">
              <a:buFont typeface="Calibri"/>
              <a:spcAft>
                <a:spcPts val="1000"/>
              </a:spcAft>
              <a:buSzPct val="100000"/>
              <a:buChar char="•"/>
              <a:lnSpc>
                <a:spcPts val="2200"/>
              </a:lnSpc>
            </a:pPr>
            <a:r>
              <a:rPr sz="2000" b="0">
                <a:solidFill>
                  <a:srgbClr val="333333"/>
                </a:solidFill>
                <a:latin typeface="Calibri"/>
              </a:rPr>
              <a:t>And remember: lint passes do not replace simulation, they narrow the search space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reach CLEAN on at least one challenge without only silencing flags</a:t>
            </a:r>
          </a:p>
          <a:p>
            <a:pPr lvl="0" marL="457200" indent="-228600">
              <a:buFont typeface="Calibri"/>
              <a:spcAft>
                <a:spcPts val="1000"/>
              </a:spcAft>
              <a:buSzPct val="100000"/>
              <a:buChar char="•"/>
              <a:lnSpc>
                <a:spcPts val="2200"/>
              </a:lnSpc>
            </a:pPr>
            <a:r>
              <a:rPr sz="2000" b="0">
                <a:solidFill>
                  <a:srgbClr val="333333"/>
                </a:solidFill>
                <a:latin typeface="Calibri"/>
              </a:rPr>
              <a:t>In Track A, run lint with strict warnings once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 testbench and DPI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lint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