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compile anything, pick the right engine for the job. Icarus Verilog shines when you need event scheduling, delays, and teaching-friendly SystemVerilog testbenches. Verilator shines when you need long regressions, C++ cosimulation, and cycle-accurate speed. This module trains a job-first choice—not brand loyalty.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Icarus when the lesson is hash delays, initial blocks, and classic event-driven testbenches. Use Verilator when the job is a Makefile regression farm, a C++ host driving Vtop, or millions of cycles overnight. The browser lab presents matched scenarios: same design idea, different tool fit. Read the scenario before you click a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chooser lab, load the starter example and work through matched scenarios until status reads ready. Each challenge names a job—teach delays, quick sanity sim, long farm run, C++ cosim—and asks which tool fits. Treat wrong picks as learning: restate why the other tool would hurt that job.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open this module’s EXAMPLES prompts and the legacy course tree. Run one tiny design with Icarus for event-style sanity, then sketch how the same block would enter a Verilator compile-to-binary flow. You do not need a perfect port—just articulate what changes when delays disappear and a C++ main appears.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reach for Verilator when the lesson requires hash delays and timing checks Icarus models cleanly. Do not reach for Icarus when you need fast cycle regressions at scale. Do not assume “simulator is simulator”—paradigm mismatch wastes afternoons. And do not treat the browser lab as proof your install works; that is Track A’s job.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matched scenarios with ready status. In Track A, name one job for each tool from your own work. When you are ready, take the short quiz, then continue to the simulation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iverilog vs Verilator</a:t>
            </a:r>
          </a:p>
          <a:p>
            <a:pPr algn="ctr">
              <a:lnSpc>
                <a:spcPts val="2200"/>
              </a:lnSpc>
              <a:spcBef>
                <a:spcPts val="1400"/>
              </a:spcBef>
            </a:pPr>
            <a:r>
              <a:rPr sz="2600" b="0">
                <a:solidFill>
                  <a:srgbClr val="333333"/>
                </a:solidFill>
                <a:latin typeface="Calibri"/>
              </a:rPr>
              <a:t>Before you compile anything, pick the right engine for the job</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iverilog vs verilator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Match the scenario</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Icarus when the lesson is hash delays, initial blocks</a:t>
            </a:r>
          </a:p>
          <a:p>
            <a:pPr lvl="0" marL="457200" indent="-228600">
              <a:buFont typeface="Calibri"/>
              <a:spcAft>
                <a:spcPts val="1000"/>
              </a:spcAft>
              <a:buSzPct val="100000"/>
              <a:buChar char="•"/>
              <a:lnSpc>
                <a:spcPts val="2200"/>
              </a:lnSpc>
            </a:pPr>
            <a:r>
              <a:rPr sz="2000" b="0">
                <a:solidFill>
                  <a:srgbClr val="333333"/>
                </a:solidFill>
                <a:latin typeface="Calibri"/>
              </a:rPr>
              <a:t>Use Verilator when the job is a Makefile regression farm</a:t>
            </a:r>
          </a:p>
          <a:p>
            <a:pPr lvl="0" marL="457200" indent="-228600">
              <a:buFont typeface="Calibri"/>
              <a:spcAft>
                <a:spcPts val="1000"/>
              </a:spcAft>
              <a:buSzPct val="100000"/>
              <a:buChar char="•"/>
              <a:lnSpc>
                <a:spcPts val="2200"/>
              </a:lnSpc>
            </a:pPr>
            <a:r>
              <a:rPr sz="2000" b="0">
                <a:solidFill>
                  <a:srgbClr val="333333"/>
                </a:solidFill>
                <a:latin typeface="Calibri"/>
              </a:rPr>
              <a:t>The browser lab presents matched scenarios: same design idea, different tool fit</a:t>
            </a:r>
          </a:p>
          <a:p>
            <a:pPr lvl="0" marL="457200" indent="-228600">
              <a:buFont typeface="Calibri"/>
              <a:spcAft>
                <a:spcPts val="1000"/>
              </a:spcAft>
              <a:buSzPct val="100000"/>
              <a:buChar char="•"/>
              <a:lnSpc>
                <a:spcPts val="2200"/>
              </a:lnSpc>
            </a:pPr>
            <a:r>
              <a:rPr sz="2000" b="0">
                <a:solidFill>
                  <a:srgbClr val="333333"/>
                </a:solidFill>
                <a:latin typeface="Calibri"/>
              </a:rPr>
              <a:t>Read the scenario before you click a answer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iverilog vs verilator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iverilog vs verilator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open this module’s EXAMPLES prompts and the legacy course tree</a:t>
            </a:r>
          </a:p>
          <a:p>
            <a:pPr lvl="0" marL="457200" indent="-228600">
              <a:buFont typeface="Calibri"/>
              <a:spcAft>
                <a:spcPts val="1000"/>
              </a:spcAft>
              <a:buSzPct val="100000"/>
              <a:buChar char="•"/>
              <a:lnSpc>
                <a:spcPts val="2200"/>
              </a:lnSpc>
            </a:pPr>
            <a:r>
              <a:rPr sz="2000" b="0">
                <a:solidFill>
                  <a:srgbClr val="333333"/>
                </a:solidFill>
                <a:latin typeface="Calibri"/>
              </a:rPr>
              <a:t>Run one tiny design with Icarus for event-style sanity</a:t>
            </a:r>
          </a:p>
          <a:p>
            <a:pPr lvl="0" marL="457200" indent="-228600">
              <a:buFont typeface="Calibri"/>
              <a:spcAft>
                <a:spcPts val="1000"/>
              </a:spcAft>
              <a:buSzPct val="100000"/>
              <a:buChar char="•"/>
              <a:lnSpc>
                <a:spcPts val="2200"/>
              </a:lnSpc>
            </a:pPr>
            <a:r>
              <a:rPr sz="2000" b="0">
                <a:solidFill>
                  <a:srgbClr val="333333"/>
                </a:solidFill>
                <a:latin typeface="Calibri"/>
              </a:rPr>
              <a:t>You do not need a perfect port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iverilog vs verilator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reach for Verilator when the lesson requires hash delays and timing checks Icarus</a:t>
            </a:r>
          </a:p>
          <a:p>
            <a:pPr lvl="0" marL="457200" indent="-228600">
              <a:buFont typeface="Calibri"/>
              <a:spcAft>
                <a:spcPts val="1000"/>
              </a:spcAft>
              <a:buSzPct val="100000"/>
              <a:buChar char="•"/>
              <a:lnSpc>
                <a:spcPts val="2200"/>
              </a:lnSpc>
            </a:pPr>
            <a:r>
              <a:rPr sz="2000" b="0">
                <a:solidFill>
                  <a:srgbClr val="333333"/>
                </a:solidFill>
                <a:latin typeface="Calibri"/>
              </a:rPr>
              <a:t>Do not reach for Icarus when you need fast cycle regressions at scale</a:t>
            </a:r>
          </a:p>
          <a:p>
            <a:pPr lvl="0" marL="457200" indent="-228600">
              <a:buFont typeface="Calibri"/>
              <a:spcAft>
                <a:spcPts val="1000"/>
              </a:spcAft>
              <a:buSzPct val="100000"/>
              <a:buChar char="•"/>
              <a:lnSpc>
                <a:spcPts val="2200"/>
              </a:lnSpc>
            </a:pPr>
            <a:r>
              <a:rPr sz="2000" b="0">
                <a:solidFill>
                  <a:srgbClr val="333333"/>
                </a:solidFill>
                <a:latin typeface="Calibri"/>
              </a:rPr>
              <a:t>Do not assume “simulator is simulator”, paradigm mismatch wastes afternoons</a:t>
            </a:r>
          </a:p>
          <a:p>
            <a:pPr lvl="0" marL="457200" indent="-228600">
              <a:buFont typeface="Calibri"/>
              <a:spcAft>
                <a:spcPts val="1000"/>
              </a:spcAft>
              <a:buSzPct val="100000"/>
              <a:buChar char="•"/>
              <a:lnSpc>
                <a:spcPts val="2200"/>
              </a:lnSpc>
            </a:pPr>
            <a:r>
              <a:rPr sz="2000" b="0">
                <a:solidFill>
                  <a:srgbClr val="333333"/>
                </a:solidFill>
                <a:latin typeface="Calibri"/>
              </a:rPr>
              <a:t>And do not treat the browser lab as proof your install works; that is Track A’s job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iverilog vs verilator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matched scenarios with ready status</a:t>
            </a:r>
          </a:p>
          <a:p>
            <a:pPr lvl="0" marL="457200" indent="-228600">
              <a:buFont typeface="Calibri"/>
              <a:spcAft>
                <a:spcPts val="1000"/>
              </a:spcAft>
              <a:buSzPct val="100000"/>
              <a:buChar char="•"/>
              <a:lnSpc>
                <a:spcPts val="2200"/>
              </a:lnSpc>
            </a:pPr>
            <a:r>
              <a:rPr sz="2000" b="0">
                <a:solidFill>
                  <a:srgbClr val="333333"/>
                </a:solidFill>
                <a:latin typeface="Calibri"/>
              </a:rPr>
              <a:t>In Track A, name one job for each tool from your own work</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simulation pipeline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iverilog vs verilator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