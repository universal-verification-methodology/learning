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Verilator run needs a disciplined clock and reset story. A common pattern is a forever loop with half-period delays for the clock. Reset should assert for a known number of posedges, then release synchronously—not held forever, not dropped at random time zero without thought.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Assert reset low or high consistently with your active level. Count posedges while reset is held—often two or three is enough for literacy. Release reset synchronously relative to the clock edge you care about. After release, let the DUT run; do not leave reset glued active while wondering why nothing moves.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browser clock-and-reset lab, load the starter testbench sketch and adjust assert duration and release point until status reads ready. Challenges flag reset held forever, release combinatorially, or clock with no half-period discipline. Fix the pattern, not only the displayed waveform paint.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Track A, open EXAMPLES and implement or inspect a host loop that toggles clock with half-period sleeps or timed steps, asserts reset for N cycles, then releases. Run once and confirm outputs change only after reset deasserts. Say how many posedges you waited—make the number intentional.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hold reset forever and call it a passing test. Do not release reset asynchronously if your DUT expects synchronous deassert. Do not forget the clock entirely in a C++ host—eval needs input changes. And do not copy a browser sketch verbatim without matching your DUT’s reset polarity.</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Complete the checklist for at least one track—preferably both. In the browser, reach ready with a synchronous release pattern. In Track A, run one reset sequence you can explain out loud. When you are ready, take the short quiz, then continue to Verilator trace.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Clock and reset in the host</a:t>
            </a:r>
          </a:p>
          <a:p>
            <a:pPr algn="ctr">
              <a:lnSpc>
                <a:spcPts val="2200"/>
              </a:lnSpc>
              <a:spcBef>
                <a:spcPts val="1400"/>
              </a:spcBef>
            </a:pPr>
            <a:r>
              <a:rPr sz="2600" b="0">
                <a:solidFill>
                  <a:srgbClr val="333333"/>
                </a:solidFill>
                <a:latin typeface="Calibri"/>
              </a:rPr>
              <a:t>Every Verilator run needs a disciplined clock and reset story</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Assert, wait, release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Assert reset low or high consistently with your active level</a:t>
            </a:r>
          </a:p>
          <a:p>
            <a:pPr lvl="0" marL="457200" indent="-228600">
              <a:buFont typeface="Calibri"/>
              <a:spcAft>
                <a:spcPts val="1000"/>
              </a:spcAft>
              <a:buSzPct val="100000"/>
              <a:buChar char="•"/>
              <a:lnSpc>
                <a:spcPts val="2200"/>
              </a:lnSpc>
            </a:pPr>
            <a:r>
              <a:rPr sz="2000" b="0">
                <a:solidFill>
                  <a:srgbClr val="333333"/>
                </a:solidFill>
                <a:latin typeface="Calibri"/>
              </a:rPr>
              <a:t>Count posedges while reset is held, often two or three is enough for literacy</a:t>
            </a:r>
          </a:p>
          <a:p>
            <a:pPr lvl="0" marL="457200" indent="-228600">
              <a:buFont typeface="Calibri"/>
              <a:spcAft>
                <a:spcPts val="1000"/>
              </a:spcAft>
              <a:buSzPct val="100000"/>
              <a:buChar char="•"/>
              <a:lnSpc>
                <a:spcPts val="2200"/>
              </a:lnSpc>
            </a:pPr>
            <a:r>
              <a:rPr sz="2000" b="0">
                <a:solidFill>
                  <a:srgbClr val="333333"/>
                </a:solidFill>
                <a:latin typeface="Calibri"/>
              </a:rPr>
              <a:t>Release reset synchronously relative to the clock edge you care about</a:t>
            </a:r>
          </a:p>
          <a:p>
            <a:pPr lvl="0" marL="457200" indent="-228600">
              <a:buFont typeface="Calibri"/>
              <a:spcAft>
                <a:spcPts val="1000"/>
              </a:spcAft>
              <a:buSzPct val="100000"/>
              <a:buChar char="•"/>
              <a:lnSpc>
                <a:spcPts val="2200"/>
              </a:lnSpc>
            </a:pPr>
            <a:r>
              <a:rPr sz="2000" b="0">
                <a:solidFill>
                  <a:srgbClr val="333333"/>
                </a:solidFill>
                <a:latin typeface="Calibri"/>
              </a:rPr>
              <a:t>After release, let the DUT run</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Browser lab</a:t>
            </a:r>
          </a:p>
        </p:txBody>
      </p:sp>
      <p:pic>
        <p:nvPicPr>
          <p:cNvPr id="3" name="Picture 2" descr="lab-starter.png"/>
          <p:cNvPicPr>
            <a:picLocks noChangeAspect="1"/>
          </p:cNvPicPr>
          <p:nvPr/>
        </p:nvPicPr>
        <p:blipFill>
          <a:blip r:embed="rId2"/>
          <a:stretch>
            <a:fillRect/>
          </a:stretch>
        </p:blipFill>
        <p:spPr>
          <a:xfrm>
            <a:off x="548640" y="1143000"/>
            <a:ext cx="65024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Lab starter</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Real Verilator practice</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In Track A, open EXAMPLES and implement or inspect a host loop that toggles clock with</a:t>
            </a:r>
          </a:p>
          <a:p>
            <a:pPr lvl="0" marL="457200" indent="-228600">
              <a:buFont typeface="Calibri"/>
              <a:spcAft>
                <a:spcPts val="1000"/>
              </a:spcAft>
              <a:buSzPct val="100000"/>
              <a:buChar char="•"/>
              <a:lnSpc>
                <a:spcPts val="2200"/>
              </a:lnSpc>
            </a:pPr>
            <a:r>
              <a:rPr sz="2000" b="0">
                <a:solidFill>
                  <a:srgbClr val="333333"/>
                </a:solidFill>
                <a:latin typeface="Calibri"/>
              </a:rPr>
              <a:t>Run once and confirm outputs change only after reset deasserts</a:t>
            </a:r>
          </a:p>
          <a:p>
            <a:pPr lvl="0" marL="457200" indent="-228600">
              <a:buFont typeface="Calibri"/>
              <a:spcAft>
                <a:spcPts val="1000"/>
              </a:spcAft>
              <a:buSzPct val="100000"/>
              <a:buChar char="•"/>
              <a:lnSpc>
                <a:spcPts val="2200"/>
              </a:lnSpc>
            </a:pPr>
            <a:r>
              <a:rPr sz="2000" b="0">
                <a:solidFill>
                  <a:srgbClr val="333333"/>
                </a:solidFill>
                <a:latin typeface="Calibri"/>
              </a:rPr>
              <a:t>Say how many posedges you waited, make the number intentional</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Pitfalls to watch</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Do not hold reset forever and call it a passing test</a:t>
            </a:r>
          </a:p>
          <a:p>
            <a:pPr lvl="0" marL="457200" indent="-228600">
              <a:buFont typeface="Calibri"/>
              <a:spcAft>
                <a:spcPts val="1000"/>
              </a:spcAft>
              <a:buSzPct val="100000"/>
              <a:buChar char="•"/>
              <a:lnSpc>
                <a:spcPts val="2200"/>
              </a:lnSpc>
            </a:pPr>
            <a:r>
              <a:rPr sz="2000" b="0">
                <a:solidFill>
                  <a:srgbClr val="333333"/>
                </a:solidFill>
                <a:latin typeface="Calibri"/>
              </a:rPr>
              <a:t>Do not release reset asynchronously if your DUT expects synchronous deassert</a:t>
            </a:r>
          </a:p>
          <a:p>
            <a:pPr lvl="0" marL="457200" indent="-228600">
              <a:buFont typeface="Calibri"/>
              <a:spcAft>
                <a:spcPts val="1000"/>
              </a:spcAft>
              <a:buSzPct val="100000"/>
              <a:buChar char="•"/>
              <a:lnSpc>
                <a:spcPts val="2200"/>
              </a:lnSpc>
            </a:pPr>
            <a:r>
              <a:rPr sz="2000" b="0">
                <a:solidFill>
                  <a:srgbClr val="333333"/>
                </a:solidFill>
                <a:latin typeface="Calibri"/>
              </a:rPr>
              <a:t>Do not forget the clock entirely in a C++ host, eval needs input changes</a:t>
            </a:r>
          </a:p>
          <a:p>
            <a:pPr lvl="0" marL="457200" indent="-228600">
              <a:buFont typeface="Calibri"/>
              <a:spcAft>
                <a:spcPts val="1000"/>
              </a:spcAft>
              <a:buSzPct val="100000"/>
              <a:buChar char="•"/>
              <a:lnSpc>
                <a:spcPts val="2200"/>
              </a:lnSpc>
            </a:pPr>
            <a:r>
              <a:rPr sz="2000" b="0">
                <a:solidFill>
                  <a:srgbClr val="333333"/>
                </a:solidFill>
                <a:latin typeface="Calibri"/>
              </a:rPr>
              <a:t>And do not copy a browser sketch verbatim without matching your DUT’s reset polarity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Your turn</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Complete the checklist for at least one track, preferably both</a:t>
            </a:r>
          </a:p>
          <a:p>
            <a:pPr lvl="0" marL="457200" indent="-228600">
              <a:buFont typeface="Calibri"/>
              <a:spcAft>
                <a:spcPts val="1000"/>
              </a:spcAft>
              <a:buSzPct val="100000"/>
              <a:buChar char="•"/>
              <a:lnSpc>
                <a:spcPts val="2200"/>
              </a:lnSpc>
            </a:pPr>
            <a:r>
              <a:rPr sz="2000" b="0">
                <a:solidFill>
                  <a:srgbClr val="333333"/>
                </a:solidFill>
                <a:latin typeface="Calibri"/>
              </a:rPr>
              <a:t>In the browser, reach ready with a synchronous release pattern</a:t>
            </a:r>
          </a:p>
          <a:p>
            <a:pPr lvl="0" marL="457200" indent="-228600">
              <a:buFont typeface="Calibri"/>
              <a:spcAft>
                <a:spcPts val="1000"/>
              </a:spcAft>
              <a:buSzPct val="100000"/>
              <a:buChar char="•"/>
              <a:lnSpc>
                <a:spcPts val="2200"/>
              </a:lnSpc>
            </a:pPr>
            <a:r>
              <a:rPr sz="2000" b="0">
                <a:solidFill>
                  <a:srgbClr val="333333"/>
                </a:solidFill>
                <a:latin typeface="Calibri"/>
              </a:rPr>
              <a:t>In Track A, run one reset sequence you can explain out loud</a:t>
            </a:r>
          </a:p>
          <a:p>
            <a:pPr lvl="0" marL="457200" indent="-228600">
              <a:buFont typeface="Calibri"/>
              <a:spcAft>
                <a:spcPts val="1000"/>
              </a:spcAft>
              <a:buSzPct val="100000"/>
              <a:buChar char="•"/>
              <a:lnSpc>
                <a:spcPts val="2200"/>
              </a:lnSpc>
            </a:pPr>
            <a:r>
              <a:rPr sz="2000" b="0">
                <a:solidFill>
                  <a:srgbClr val="333333"/>
                </a:solidFill>
                <a:latin typeface="Calibri"/>
              </a:rPr>
              <a:t>When you are ready, take the short quiz, then continue to Verilator trace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learn_verilator — tb clock reset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