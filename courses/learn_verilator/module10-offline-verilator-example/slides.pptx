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has no graded browser lab. Your job is to build and run a real Verilator example offline using the legacy Verilator course tree bundled beside this path. You will prove the toolchain end to end—not merely click through a diagram.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sibling learn Verilator Icarus legacy repository from the monorepo courses folder. Follow its README and module scripts for a small Verilator plus C++ or Verilog testbench example. The exact target names vary by legacy module—that is normal. Capture the commands you used and whether the run passed.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into the legacy course root, pick a minimal example target, run make or the documented script, then execute the produced binary or test runner. You should see compile, build, and run stages complete with a pass or an explainable fail. Write the command sequence in your notes as if a teammate must replay it tomorrow.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Verilator version, the example name, pass or fail, and one artifact—log snippet, wave file, or stdout line—that proves the run happened. If something failed, record the stage—compile, link, or run—and the first error line. Fixes belong in your notes too; this is practice, not a hidden autograder.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substitute a browser lab for this offline requirement. Do not assume one Makefile from a blog matches the legacy tree—read the local README. Do not skip capturing results; module eleven assumes you attempted a real run. And if install is broken, fix install before blaming RTL.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offline checklist: one real build and run from the legacy tree, commands and outcome recorded. Optional stretch: produce a short trace from the same example. When you are ready, take the short quiz, then continue to the wrap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Offline capstone</a:t>
            </a:r>
          </a:p>
          <a:p>
            <a:pPr algn="ctr">
              <a:lnSpc>
                <a:spcPts val="2200"/>
              </a:lnSpc>
              <a:spcBef>
                <a:spcPts val="1400"/>
              </a:spcBef>
            </a:pPr>
            <a:r>
              <a:rPr sz="2600" b="0">
                <a:solidFill>
                  <a:srgbClr val="333333"/>
                </a:solidFill>
                <a:latin typeface="Calibri"/>
              </a:rPr>
              <a:t>This module has no graded browser lab</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to work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the sibling learn Verilator Icarus legacy repository from the monorepo courses folder</a:t>
            </a:r>
          </a:p>
          <a:p>
            <a:pPr lvl="0" marL="457200" indent="-228600">
              <a:buFont typeface="Calibri"/>
              <a:spcAft>
                <a:spcPts val="1000"/>
              </a:spcAft>
              <a:buSzPct val="100000"/>
              <a:buChar char="•"/>
              <a:lnSpc>
                <a:spcPts val="2200"/>
              </a:lnSpc>
            </a:pPr>
            <a:r>
              <a:rPr sz="2000" b="0">
                <a:solidFill>
                  <a:srgbClr val="333333"/>
                </a:solidFill>
                <a:latin typeface="Calibri"/>
              </a:rPr>
              <a:t>Follow its README and module scripts for a small Verilator plus C++ or Verilog testbench</a:t>
            </a:r>
          </a:p>
          <a:p>
            <a:pPr lvl="0" marL="457200" indent="-228600">
              <a:buFont typeface="Calibri"/>
              <a:spcAft>
                <a:spcPts val="1000"/>
              </a:spcAft>
              <a:buSzPct val="100000"/>
              <a:buChar char="•"/>
              <a:lnSpc>
                <a:spcPts val="2200"/>
              </a:lnSpc>
            </a:pPr>
            <a:r>
              <a:rPr sz="2000" b="0">
                <a:solidFill>
                  <a:srgbClr val="333333"/>
                </a:solidFill>
                <a:latin typeface="Calibri"/>
              </a:rPr>
              <a:t>The exact target names vary by legacy module, that is normal</a:t>
            </a:r>
          </a:p>
          <a:p>
            <a:pPr lvl="0" marL="457200" indent="-228600">
              <a:buFont typeface="Calibri"/>
              <a:spcAft>
                <a:spcPts val="1000"/>
              </a:spcAft>
              <a:buSzPct val="100000"/>
              <a:buChar char="•"/>
              <a:lnSpc>
                <a:spcPts val="2200"/>
              </a:lnSpc>
            </a:pPr>
            <a:r>
              <a:rPr sz="2000" b="0">
                <a:solidFill>
                  <a:srgbClr val="333333"/>
                </a:solidFill>
                <a:latin typeface="Calibri"/>
              </a:rPr>
              <a:t>Capture the commands you used and whether the run passed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typical command shape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Change into the legacy course root</a:t>
            </a:r>
          </a:p>
          <a:p>
            <a:pPr lvl="0" marL="457200" indent="-228600">
              <a:buFont typeface="Calibri"/>
              <a:spcAft>
                <a:spcPts val="1000"/>
              </a:spcAft>
              <a:buSzPct val="100000"/>
              <a:buChar char="•"/>
              <a:lnSpc>
                <a:spcPts val="2200"/>
              </a:lnSpc>
            </a:pPr>
            <a:r>
              <a:rPr sz="2000" b="0">
                <a:solidFill>
                  <a:srgbClr val="333333"/>
                </a:solidFill>
                <a:latin typeface="Calibri"/>
              </a:rPr>
              <a:t>You should see compile, build, and run stages complete with a pass or an explainable fail</a:t>
            </a:r>
          </a:p>
          <a:p>
            <a:pPr lvl="0" marL="457200" indent="-228600">
              <a:buFont typeface="Calibri"/>
              <a:spcAft>
                <a:spcPts val="1000"/>
              </a:spcAft>
              <a:buSzPct val="100000"/>
              <a:buChar char="•"/>
              <a:lnSpc>
                <a:spcPts val="2200"/>
              </a:lnSpc>
            </a:pPr>
            <a:r>
              <a:rPr sz="2000" b="0">
                <a:solidFill>
                  <a:srgbClr val="333333"/>
                </a:solidFill>
                <a:latin typeface="Calibri"/>
              </a:rPr>
              <a:t>Write the command sequence in your notes as if a teammate must replay it tomorrow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to record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Note Verilator version, the example name, pass or fail</a:t>
            </a:r>
          </a:p>
          <a:p>
            <a:pPr lvl="0" marL="457200" indent="-228600">
              <a:buFont typeface="Calibri"/>
              <a:spcAft>
                <a:spcPts val="1000"/>
              </a:spcAft>
              <a:buSzPct val="100000"/>
              <a:buChar char="•"/>
              <a:lnSpc>
                <a:spcPts val="2200"/>
              </a:lnSpc>
            </a:pPr>
            <a:r>
              <a:rPr sz="2000" b="0">
                <a:solidFill>
                  <a:srgbClr val="333333"/>
                </a:solidFill>
                <a:latin typeface="Calibri"/>
              </a:rPr>
              <a:t>If something failed, record the stage, compile, link, or run, and the first error line</a:t>
            </a:r>
          </a:p>
          <a:p>
            <a:pPr lvl="0" marL="457200" indent="-228600">
              <a:buFont typeface="Calibri"/>
              <a:spcAft>
                <a:spcPts val="1000"/>
              </a:spcAft>
              <a:buSzPct val="100000"/>
              <a:buChar char="•"/>
              <a:lnSpc>
                <a:spcPts val="2200"/>
              </a:lnSpc>
            </a:pPr>
            <a:r>
              <a:rPr sz="2000" b="0">
                <a:solidFill>
                  <a:srgbClr val="333333"/>
                </a:solidFill>
                <a:latin typeface="Calibri"/>
              </a:rPr>
              <a:t>Fixes belong in your notes too; this is practice, not a hidden autograder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substitute a browser lab for this offline requirement</a:t>
            </a:r>
          </a:p>
          <a:p>
            <a:pPr lvl="0" marL="457200" indent="-228600">
              <a:buFont typeface="Calibri"/>
              <a:spcAft>
                <a:spcPts val="1000"/>
              </a:spcAft>
              <a:buSzPct val="100000"/>
              <a:buChar char="•"/>
              <a:lnSpc>
                <a:spcPts val="2200"/>
              </a:lnSpc>
            </a:pPr>
            <a:r>
              <a:rPr sz="2000" b="0">
                <a:solidFill>
                  <a:srgbClr val="333333"/>
                </a:solidFill>
                <a:latin typeface="Calibri"/>
              </a:rPr>
              <a:t>Do not assume one Makefile from a blog matches the legacy tree, read the local README</a:t>
            </a:r>
          </a:p>
          <a:p>
            <a:pPr lvl="0" marL="457200" indent="-228600">
              <a:buFont typeface="Calibri"/>
              <a:spcAft>
                <a:spcPts val="1000"/>
              </a:spcAft>
              <a:buSzPct val="100000"/>
              <a:buChar char="•"/>
              <a:lnSpc>
                <a:spcPts val="2200"/>
              </a:lnSpc>
            </a:pPr>
            <a:r>
              <a:rPr sz="2000" b="0">
                <a:solidFill>
                  <a:srgbClr val="333333"/>
                </a:solidFill>
                <a:latin typeface="Calibri"/>
              </a:rPr>
              <a:t>Do not skip capturing results; module eleven assumes you attempted a real run</a:t>
            </a:r>
          </a:p>
          <a:p>
            <a:pPr lvl="0" marL="457200" indent="-228600">
              <a:buFont typeface="Calibri"/>
              <a:spcAft>
                <a:spcPts val="1000"/>
              </a:spcAft>
              <a:buSzPct val="100000"/>
              <a:buChar char="•"/>
              <a:lnSpc>
                <a:spcPts val="2200"/>
              </a:lnSpc>
            </a:pPr>
            <a:r>
              <a:rPr sz="2000" b="0">
                <a:solidFill>
                  <a:srgbClr val="333333"/>
                </a:solidFill>
                <a:latin typeface="Calibri"/>
              </a:rPr>
              <a:t>And if install is broken, fix install before blaming RTL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offline checklist</a:t>
            </a:r>
          </a:p>
          <a:p>
            <a:pPr lvl="0" marL="457200" indent="-228600">
              <a:buFont typeface="Calibri"/>
              <a:spcAft>
                <a:spcPts val="1000"/>
              </a:spcAft>
              <a:buSzPct val="100000"/>
              <a:buChar char="•"/>
              <a:lnSpc>
                <a:spcPts val="2200"/>
              </a:lnSpc>
            </a:pPr>
            <a:r>
              <a:rPr sz="2000" b="0">
                <a:solidFill>
                  <a:srgbClr val="333333"/>
                </a:solidFill>
                <a:latin typeface="Calibri"/>
              </a:rPr>
              <a:t>Optional stretch: produce a short trace from the same example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wrap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offline verilator 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