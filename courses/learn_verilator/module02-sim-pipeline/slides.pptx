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simulator run is a pipeline: compile sources, elaborate the design hierarchy, then execute time. Icarus and Verilator share that story even when the commands differ. If you cannot name the stage that failed, you will debug the wrong log file.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Verilator’s common flow is compile with the C++ emit flag, build the generated model plus your host, then run the binary. Elaboration happens inside Verilator’s front end; the artifact you run is often an executable, not a standalone vvp-style interpreter. Status READY in the literacy lab means every stage completed—not merely “no red text somewhere.”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pipeline lab, load the starter and walk compile, elaborate, and run stages for both tool shapes. Drag or click until the pipeline reads ready. Challenges call out missing stages—compile without run, run without elaborate—and ask you to repair the order.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open EXAMPLES and run one minimal Verilator compile that emits C++, then make and execute the binary. Say out loud which log lines belong to compile versus link versus run. If the binary exits immediately, check whether the testbench host actually stepped time.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treat “verilator ran” as “simulation succeeded”—did you build and run the host? Do not debug waves when compile never finished. Do not compare Icarus and Verilator commands flag-for-flag; compare stages. And remember READY is a whole pipeline, not one green checkbox.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reach ready on the pipeline diagram. In Track A, run compile, build, and execute once on a tiny design. When you are ready, take the short quiz, then continue to Verilator lint.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The simulation pipeline</a:t>
            </a:r>
          </a:p>
          <a:p>
            <a:pPr algn="ctr">
              <a:lnSpc>
                <a:spcPts val="2200"/>
              </a:lnSpc>
              <a:spcBef>
                <a:spcPts val="1400"/>
              </a:spcBef>
            </a:pPr>
            <a:r>
              <a:rPr sz="2600" b="0">
                <a:solidFill>
                  <a:srgbClr val="333333"/>
                </a:solidFill>
                <a:latin typeface="Calibri"/>
              </a:rPr>
              <a:t>Every simulator run is a pipeline: compile sources, elaborate the design hierarchy, then execute time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sim pipeline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Verilator’s compile-to-binary path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Verilator’s common flow is compile with the C++ emit flag</a:t>
            </a:r>
          </a:p>
          <a:p>
            <a:pPr lvl="0" marL="457200" indent="-228600">
              <a:buFont typeface="Calibri"/>
              <a:spcAft>
                <a:spcPts val="1000"/>
              </a:spcAft>
              <a:buSzPct val="100000"/>
              <a:buChar char="•"/>
              <a:lnSpc>
                <a:spcPts val="2200"/>
              </a:lnSpc>
            </a:pPr>
            <a:r>
              <a:rPr sz="2000" b="0">
                <a:solidFill>
                  <a:srgbClr val="333333"/>
                </a:solidFill>
                <a:latin typeface="Calibri"/>
              </a:rPr>
              <a:t>Elaboration happens inside Verilator’s front end</a:t>
            </a:r>
          </a:p>
          <a:p>
            <a:pPr lvl="0" marL="457200" indent="-228600">
              <a:buFont typeface="Calibri"/>
              <a:spcAft>
                <a:spcPts val="1000"/>
              </a:spcAft>
              <a:buSzPct val="100000"/>
              <a:buChar char="•"/>
              <a:lnSpc>
                <a:spcPts val="2200"/>
              </a:lnSpc>
            </a:pPr>
            <a:r>
              <a:rPr sz="2000" b="0">
                <a:solidFill>
                  <a:srgbClr val="333333"/>
                </a:solidFill>
                <a:latin typeface="Calibri"/>
              </a:rPr>
              <a:t>Status READY in the literacy lab means every stage completed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sim pipeline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sim pipeline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open EXAMPLES and run one minimal Verilator compile that emits C++, then make</a:t>
            </a:r>
          </a:p>
          <a:p>
            <a:pPr lvl="0" marL="457200" indent="-228600">
              <a:buFont typeface="Calibri"/>
              <a:spcAft>
                <a:spcPts val="1000"/>
              </a:spcAft>
              <a:buSzPct val="100000"/>
              <a:buChar char="•"/>
              <a:lnSpc>
                <a:spcPts val="2200"/>
              </a:lnSpc>
            </a:pPr>
            <a:r>
              <a:rPr sz="2000" b="0">
                <a:solidFill>
                  <a:srgbClr val="333333"/>
                </a:solidFill>
                <a:latin typeface="Calibri"/>
              </a:rPr>
              <a:t>Say out loud which log lines belong to compile versus link versus run</a:t>
            </a:r>
          </a:p>
          <a:p>
            <a:pPr lvl="0" marL="457200" indent="-228600">
              <a:buFont typeface="Calibri"/>
              <a:spcAft>
                <a:spcPts val="1000"/>
              </a:spcAft>
              <a:buSzPct val="100000"/>
              <a:buChar char="•"/>
              <a:lnSpc>
                <a:spcPts val="2200"/>
              </a:lnSpc>
            </a:pPr>
            <a:r>
              <a:rPr sz="2000" b="0">
                <a:solidFill>
                  <a:srgbClr val="333333"/>
                </a:solidFill>
                <a:latin typeface="Calibri"/>
              </a:rPr>
              <a:t>If the binary exits immediately, check whether the testbench host actually stepped 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sim pipeline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treat “verilator ran” as “simulation succeeded”, did you build and run the host?</a:t>
            </a:r>
          </a:p>
          <a:p>
            <a:pPr lvl="0" marL="457200" indent="-228600">
              <a:buFont typeface="Calibri"/>
              <a:spcAft>
                <a:spcPts val="1000"/>
              </a:spcAft>
              <a:buSzPct val="100000"/>
              <a:buChar char="•"/>
              <a:lnSpc>
                <a:spcPts val="2200"/>
              </a:lnSpc>
            </a:pPr>
            <a:r>
              <a:rPr sz="2000" b="0">
                <a:solidFill>
                  <a:srgbClr val="333333"/>
                </a:solidFill>
                <a:latin typeface="Calibri"/>
              </a:rPr>
              <a:t>Do not debug waves when compile never finished</a:t>
            </a:r>
          </a:p>
          <a:p>
            <a:pPr lvl="0" marL="457200" indent="-228600">
              <a:buFont typeface="Calibri"/>
              <a:spcAft>
                <a:spcPts val="1000"/>
              </a:spcAft>
              <a:buSzPct val="100000"/>
              <a:buChar char="•"/>
              <a:lnSpc>
                <a:spcPts val="2200"/>
              </a:lnSpc>
            </a:pPr>
            <a:r>
              <a:rPr sz="2000" b="0">
                <a:solidFill>
                  <a:srgbClr val="333333"/>
                </a:solidFill>
                <a:latin typeface="Calibri"/>
              </a:rPr>
              <a:t>Do not compare Icarus and Verilator commands flag-for-flag; compare stages</a:t>
            </a:r>
          </a:p>
          <a:p>
            <a:pPr lvl="0" marL="457200" indent="-228600">
              <a:buFont typeface="Calibri"/>
              <a:spcAft>
                <a:spcPts val="1000"/>
              </a:spcAft>
              <a:buSzPct val="100000"/>
              <a:buChar char="•"/>
              <a:lnSpc>
                <a:spcPts val="2200"/>
              </a:lnSpc>
            </a:pPr>
            <a:r>
              <a:rPr sz="2000" b="0">
                <a:solidFill>
                  <a:srgbClr val="333333"/>
                </a:solidFill>
                <a:latin typeface="Calibri"/>
              </a:rPr>
              <a:t>And remember READY is a whole pipeline, not one green checkbox</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sim pipeline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reach ready on the pipeline diagram</a:t>
            </a:r>
          </a:p>
          <a:p>
            <a:pPr lvl="0" marL="457200" indent="-228600">
              <a:buFont typeface="Calibri"/>
              <a:spcAft>
                <a:spcPts val="1000"/>
              </a:spcAft>
              <a:buSzPct val="100000"/>
              <a:buChar char="•"/>
              <a:lnSpc>
                <a:spcPts val="2200"/>
              </a:lnSpc>
            </a:pPr>
            <a:r>
              <a:rPr sz="2000" b="0">
                <a:solidFill>
                  <a:srgbClr val="333333"/>
                </a:solidFill>
                <a:latin typeface="Calibri"/>
              </a:rPr>
              <a:t>In Track A, run compile, build, and execute once on a tiny design</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Verilator lint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sim pipeline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