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instantiate a module, you must connect its ports to nets in your design. Positional connection lists signals in the same order as the module’s port list—first port to first argument, and so on. Named connection uses dot-port-name open-paren net close-paren for each port, so order does not matter. This module is that choice: why positional miswires can compile silently, and why named ports are the safer default for real RTL.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 flip-flop might declare ports clk, d, q in that order. Positional dff u open-paren clk, din, qout close-paren wires them correctly. Swap the last two arguments to clk, qout, din and the file still parses—but d and q are crossed. Named dot-d open-paren din close-paren dot-q open-paren qout close-paren makes the intent obvious and survives port reordering in the child module. For a two-input AND gate, swapping a and b is harmless; for control and data ports, it is not.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named-versus-positional lab from the tools page. You will see a module picker, a style toggle between positional and named, net selectors for each port, and a binding verdict that flags mismatches. The starter loads a D flip-flop with a positional d-and-q swap. Try the fix buttons or switch to named connections, then work the challenges—including an AND gate swap that compiles but changes nothing useful.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Verilog track, open this module’s examples folder. You will see a small D flip-flop module and a top-level that instantiates it with named ports—dot-clk, dot-d, dot-q—so each connection is explicit. A commented positional miswire shows how easy it is to swap data and output without a syntax error. If Icarus is available, run a syntax-only compile on the named version.</a:t>
            </a:r>
          </a:p>
          <a:p/>
          <a:p>
            <a:r>
              <a:t>```verilog</a:t>
            </a:r>
          </a:p>
          <a:p>
            <a:r>
              <a:t>// instance_conn.v — prefer named port connections</a:t>
            </a:r>
          </a:p>
          <a:p>
            <a:r>
              <a:t>module dff(</a:t>
            </a:r>
          </a:p>
          <a:p>
            <a:r>
              <a:t>  input      clk,</a:t>
            </a:r>
          </a:p>
          <a:p>
            <a:r>
              <a:t>  input      d,</a:t>
            </a:r>
          </a:p>
          <a:p>
            <a:r>
              <a:t>  output reg q</a:t>
            </a:r>
          </a:p>
          <a:p>
            <a:r>
              <a:t>);</a:t>
            </a:r>
          </a:p>
          <a:p>
            <a:r>
              <a:t>  always @(posedge clk)</a:t>
            </a:r>
          </a:p>
          <a:p>
            <a:r>
              <a:t>    q &lt;= d;</a:t>
            </a:r>
          </a:p>
          <a:p>
            <a:r>
              <a:t>endmodule</a:t>
            </a:r>
          </a:p>
          <a:p/>
          <a:p>
            <a:r>
              <a:t>module top(</a:t>
            </a:r>
          </a:p>
          <a:p>
            <a:r>
              <a:t>  input  clk,</a:t>
            </a:r>
          </a:p>
          <a:p>
            <a:r>
              <a:t>  input  din,</a:t>
            </a:r>
          </a:p>
          <a:p>
            <a:r>
              <a:t>  output qout</a:t>
            </a:r>
          </a:p>
          <a:p>
            <a:r>
              <a:t>);</a:t>
            </a:r>
          </a:p>
          <a:p>
            <a:r>
              <a:t>  dff u_good (</a:t>
            </a:r>
          </a:p>
          <a:p>
            <a:r>
              <a:t>    .clk(clk),</a:t>
            </a:r>
          </a:p>
          <a:p>
            <a:r>
              <a:t>    .d  (din),</a:t>
            </a:r>
          </a:p>
          <a:p>
            <a:r>
              <a:t>    .q  (qout)</a:t>
            </a:r>
          </a:p>
          <a:p>
            <a:r>
              <a:t>  );</a:t>
            </a:r>
          </a:p>
          <a:p>
            <a:r>
              <a:t>  // dff u_bad(clk, qout, din);  // positional swap — compiles, miswired</a:t>
            </a:r>
          </a:p>
          <a:p>
            <a:r>
              <a:t>endmodule</a:t>
            </a:r>
          </a:p>
          <a:p/>
          <a:p>
            <a:r>
              <a:t>// iverilog -t null instance_conn.v — syntax check only</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positional order matches how you drew the schematic—check the child module’s port list. Do not mix named and positional on the same instance unless your style guide allows it; prefer all-named. Do not rely on the compiler to catch swapped functional ports—binding errors are often silent until simulation or silicon. For generated or macro cells with dozens of ports, named connections are not optional—they are how you stay sane.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fix the starter D flip-flop miswire and explain why the broken version still compiled. On real Verilog, rewrite one instance using named ports. When you are ready, take the short quiz, then continue to localparam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Named vs positional</a:t>
            </a:r>
          </a:p>
          <a:p>
            <a:pPr algn="ctr">
              <a:lnSpc>
                <a:spcPts val="2200"/>
              </a:lnSpc>
              <a:spcBef>
                <a:spcPts val="1400"/>
              </a:spcBef>
            </a:pPr>
            <a:r>
              <a:rPr sz="2600" b="0">
                <a:solidFill>
                  <a:srgbClr val="333333"/>
                </a:solidFill>
                <a:latin typeface="Calibri"/>
              </a:rPr>
              <a:t>When you instantiate a module, you must connect its ports to nets in your design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named vs positional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Order matters for positional</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D flip-flop might declare ports clk, d, q in that order</a:t>
            </a:r>
          </a:p>
          <a:p>
            <a:pPr lvl="0" marL="457200" indent="-228600">
              <a:buFont typeface="Calibri"/>
              <a:spcAft>
                <a:spcPts val="1000"/>
              </a:spcAft>
              <a:buSzPct val="100000"/>
              <a:buChar char="•"/>
              <a:lnSpc>
                <a:spcPts val="2200"/>
              </a:lnSpc>
            </a:pPr>
            <a:r>
              <a:rPr sz="2000" b="0">
                <a:solidFill>
                  <a:srgbClr val="333333"/>
                </a:solidFill>
                <a:latin typeface="Calibri"/>
              </a:rPr>
              <a:t>Positional dff u open-paren clk, din, qout close-paren wires them correctly</a:t>
            </a:r>
          </a:p>
          <a:p>
            <a:pPr lvl="0" marL="457200" indent="-228600">
              <a:buFont typeface="Calibri"/>
              <a:spcAft>
                <a:spcPts val="1000"/>
              </a:spcAft>
              <a:buSzPct val="100000"/>
              <a:buChar char="•"/>
              <a:lnSpc>
                <a:spcPts val="2200"/>
              </a:lnSpc>
            </a:pPr>
            <a:r>
              <a:rPr sz="2000" b="0">
                <a:solidFill>
                  <a:srgbClr val="333333"/>
                </a:solidFill>
                <a:latin typeface="Calibri"/>
              </a:rPr>
              <a:t>Swap the last two arguments to clk</a:t>
            </a:r>
          </a:p>
          <a:p>
            <a:pPr lvl="0" marL="457200" indent="-228600">
              <a:buFont typeface="Calibri"/>
              <a:spcAft>
                <a:spcPts val="1000"/>
              </a:spcAft>
              <a:buSzPct val="100000"/>
              <a:buChar char="•"/>
              <a:lnSpc>
                <a:spcPts val="2200"/>
              </a:lnSpc>
            </a:pPr>
            <a:r>
              <a:rPr sz="2000" b="0">
                <a:solidFill>
                  <a:srgbClr val="333333"/>
                </a:solidFill>
                <a:latin typeface="Calibri"/>
              </a:rPr>
              <a:t>Named dot-d open-paren din close-paren dot-q open-paren qout close-paren makes the intent</a:t>
            </a:r>
          </a:p>
          <a:p>
            <a:pPr lvl="0" marL="457200" indent="-228600">
              <a:buFont typeface="Calibri"/>
              <a:spcAft>
                <a:spcPts val="1000"/>
              </a:spcAft>
              <a:buSzPct val="100000"/>
              <a:buChar char="•"/>
              <a:lnSpc>
                <a:spcPts val="2200"/>
              </a:lnSpc>
            </a:pPr>
            <a:r>
              <a:rPr sz="2000" b="0">
                <a:solidFill>
                  <a:srgbClr val="333333"/>
                </a:solidFill>
                <a:latin typeface="Calibri"/>
              </a:rPr>
              <a:t>For a two-input AND gate, swapping a and b is harmless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named vs positional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Named vs positional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named vs positional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Verilog practice</a:t>
            </a:r>
          </a:p>
        </p:txBody>
      </p:sp>
      <p:pic>
        <p:nvPicPr>
          <p:cNvPr id="3" name="Picture 2" descr="real-shell.png"/>
          <p:cNvPicPr>
            <a:picLocks noChangeAspect="1"/>
          </p:cNvPicPr>
          <p:nvPr/>
        </p:nvPicPr>
        <p:blipFill>
          <a:blip r:embed="rId2"/>
          <a:stretch>
            <a:fillRect/>
          </a:stretch>
        </p:blipFill>
        <p:spPr>
          <a:xfrm>
            <a:off x="548640" y="1143000"/>
            <a:ext cx="6959038"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Verilog — named instance connections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named vs positional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positional order matches how you drew the schematic</a:t>
            </a:r>
          </a:p>
          <a:p>
            <a:pPr lvl="0" marL="457200" indent="-228600">
              <a:buFont typeface="Calibri"/>
              <a:spcAft>
                <a:spcPts val="1000"/>
              </a:spcAft>
              <a:buSzPct val="100000"/>
              <a:buChar char="•"/>
              <a:lnSpc>
                <a:spcPts val="2200"/>
              </a:lnSpc>
            </a:pPr>
            <a:r>
              <a:rPr sz="2000" b="0">
                <a:solidFill>
                  <a:srgbClr val="333333"/>
                </a:solidFill>
                <a:latin typeface="Calibri"/>
              </a:rPr>
              <a:t>Do not mix named and positional on the same instance unless your style guide allows it</a:t>
            </a:r>
          </a:p>
          <a:p>
            <a:pPr lvl="0" marL="457200" indent="-228600">
              <a:buFont typeface="Calibri"/>
              <a:spcAft>
                <a:spcPts val="1000"/>
              </a:spcAft>
              <a:buSzPct val="100000"/>
              <a:buChar char="•"/>
              <a:lnSpc>
                <a:spcPts val="2200"/>
              </a:lnSpc>
            </a:pPr>
            <a:r>
              <a:rPr sz="2000" b="0">
                <a:solidFill>
                  <a:srgbClr val="333333"/>
                </a:solidFill>
                <a:latin typeface="Calibri"/>
              </a:rPr>
              <a:t>Do not rely on the compiler to catch swapped functional ports</a:t>
            </a:r>
          </a:p>
          <a:p>
            <a:pPr lvl="0" marL="457200" indent="-228600">
              <a:buFont typeface="Calibri"/>
              <a:spcAft>
                <a:spcPts val="1000"/>
              </a:spcAft>
              <a:buSzPct val="100000"/>
              <a:buChar char="•"/>
              <a:lnSpc>
                <a:spcPts val="2200"/>
              </a:lnSpc>
            </a:pPr>
            <a:r>
              <a:rPr sz="2000" b="0">
                <a:solidFill>
                  <a:srgbClr val="333333"/>
                </a:solidFill>
                <a:latin typeface="Calibri"/>
              </a:rPr>
              <a:t>For generated or macro cells with dozens of ports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named vs positional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real Verilog, rewrite one instance using named ports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localparam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learn_verilog — named vs positional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