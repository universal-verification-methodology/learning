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RTL block starts with a boundary you can draw on paper: a module name, ports going in and out, and sometimes child instances inside. This module is that picture made explicit—how Verilog declares a module, what each port direction means, and how a parent connects to a child. We will use the browser lab for the diagram, then write the same shape in a real dot-v file.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module is a named design unit. Ports are the named wires on its edge—input, output, or inout—and they are how the parent talks to the child. Inside the module you describe behavior with assigns or always blocks; outside, you instantiate the module with a cell name and port connections. Named connects like dot-a open-paren a close-paren tie a formal port to an actual wire without guessing order. Hierarchy is simply the tree of parents and instances you get when one module contains another.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module and port diagram lab from the tools page. You will see three regions: the challenge card and preset picker at the top, the Verilog source editor on one side, and the port diagram on the other. Load the and-two starter so you see two inputs and one output on a small gate. Try a hierarchy preset next—watch how an instance appears when top instantiates and-two. Work a few challenges, then use Check when the diagram matches what the prompt asks. The lab guides the details; you do not need a full UI tour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and look at the tiny and-two sketch. Read the module header: two inputs, one output, then a single assign that ANDs them. If Icarus is on your path, run a syntax-only compile to confirm the file parses; if not, keeping a clean module shell in your editor is still valid practice. That header-and-assign pattern is the template you will reuse all course long.</a:t>
            </a:r>
          </a:p>
          <a:p/>
          <a:p>
            <a:r>
              <a:t>```verilog</a:t>
            </a:r>
          </a:p>
          <a:p>
            <a:r>
              <a:t>// and2.v — minimal module: ports on the boundary, logic inside</a:t>
            </a:r>
          </a:p>
          <a:p>
            <a:r>
              <a:t>module and2(</a:t>
            </a:r>
          </a:p>
          <a:p>
            <a:r>
              <a:t>  input  a,</a:t>
            </a:r>
          </a:p>
          <a:p>
            <a:r>
              <a:t>  input  b,</a:t>
            </a:r>
          </a:p>
          <a:p>
            <a:r>
              <a:t>  output y</a:t>
            </a:r>
          </a:p>
          <a:p>
            <a:r>
              <a:t>);</a:t>
            </a:r>
          </a:p>
          <a:p>
            <a:r>
              <a:t>  assign y = a &amp; b;</a:t>
            </a:r>
          </a:p>
          <a:p>
            <a:r>
              <a:t>endmodule</a:t>
            </a:r>
          </a:p>
          <a:p/>
          <a:p>
            <a:r>
              <a:t>// iverilog -t null and2.v — syntax check only (no simulation run)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swap input and output directions—a port driven inside must be an output. Do not assume positional port order when named connects are clearer; the lab’s hierarchy challenges exist partly to train named association. And remember: a pretty diagram does not replace synthesizable logic—the browser lab teaches the boundary picture; you still owe real RTL in your editor.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load the starter and finish a few challenges. On real Verilog, write or edit a minimal module shell for this idea. When you are ready, take the short quiz, then continue to Verilog literals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Module / port diagram</a:t>
            </a:r>
          </a:p>
          <a:p>
            <a:pPr algn="ctr">
              <a:lnSpc>
                <a:spcPts val="2200"/>
              </a:lnSpc>
              <a:spcBef>
                <a:spcPts val="1400"/>
              </a:spcBef>
            </a:pPr>
            <a:r>
              <a:rPr sz="2600" b="0">
                <a:solidFill>
                  <a:srgbClr val="333333"/>
                </a:solidFill>
                <a:latin typeface="Calibri"/>
              </a:rPr>
              <a:t>Every RTL block starts with a boundary you can draw on paper</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module diagram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Modules, ports, and instances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module is a named design unit</a:t>
            </a:r>
          </a:p>
          <a:p>
            <a:pPr lvl="0" marL="457200" indent="-228600">
              <a:buFont typeface="Calibri"/>
              <a:spcAft>
                <a:spcPts val="1000"/>
              </a:spcAft>
              <a:buSzPct val="100000"/>
              <a:buChar char="•"/>
              <a:lnSpc>
                <a:spcPts val="2200"/>
              </a:lnSpc>
            </a:pPr>
            <a:r>
              <a:rPr sz="2000" b="0">
                <a:solidFill>
                  <a:srgbClr val="333333"/>
                </a:solidFill>
                <a:latin typeface="Calibri"/>
              </a:rPr>
              <a:t>Ports are the named wires on its edge, input, output, or inout</a:t>
            </a:r>
          </a:p>
          <a:p>
            <a:pPr lvl="0" marL="457200" indent="-228600">
              <a:buFont typeface="Calibri"/>
              <a:spcAft>
                <a:spcPts val="1000"/>
              </a:spcAft>
              <a:buSzPct val="100000"/>
              <a:buChar char="•"/>
              <a:lnSpc>
                <a:spcPts val="2200"/>
              </a:lnSpc>
            </a:pPr>
            <a:r>
              <a:rPr sz="2000" b="0">
                <a:solidFill>
                  <a:srgbClr val="333333"/>
                </a:solidFill>
                <a:latin typeface="Calibri"/>
              </a:rPr>
              <a:t>Inside the module you describe behavior with assigns or always blocks</a:t>
            </a:r>
          </a:p>
          <a:p>
            <a:pPr lvl="0" marL="457200" indent="-228600">
              <a:buFont typeface="Calibri"/>
              <a:spcAft>
                <a:spcPts val="1000"/>
              </a:spcAft>
              <a:buSzPct val="100000"/>
              <a:buChar char="•"/>
              <a:lnSpc>
                <a:spcPts val="2200"/>
              </a:lnSpc>
            </a:pPr>
            <a:r>
              <a:rPr sz="2000" b="0">
                <a:solidFill>
                  <a:srgbClr val="333333"/>
                </a:solidFill>
                <a:latin typeface="Calibri"/>
              </a:rPr>
              <a:t>Named connects like dot-a open-paren a close-paren tie a formal port to an actual wire</a:t>
            </a:r>
          </a:p>
          <a:p>
            <a:pPr lvl="0" marL="457200" indent="-228600">
              <a:buFont typeface="Calibri"/>
              <a:spcAft>
                <a:spcPts val="1000"/>
              </a:spcAft>
              <a:buSzPct val="100000"/>
              <a:buChar char="•"/>
              <a:lnSpc>
                <a:spcPts val="2200"/>
              </a:lnSpc>
            </a:pPr>
            <a:r>
              <a:rPr sz="2000" b="0">
                <a:solidFill>
                  <a:srgbClr val="333333"/>
                </a:solidFill>
                <a:latin typeface="Calibri"/>
              </a:rPr>
              <a:t>Hierarchy is simply the tree of parents and instances you get when one module contains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module diagram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1"/>
            <a:ext cx="2634996" cy="4571998"/>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Module diagram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module diagram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431011"/>
            <a:ext cx="11064240" cy="3995978"/>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and2 module shell</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module diagram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swap input and output directions, a port driven inside must be an output</a:t>
            </a:r>
          </a:p>
          <a:p>
            <a:pPr lvl="0" marL="457200" indent="-228600">
              <a:buFont typeface="Calibri"/>
              <a:spcAft>
                <a:spcPts val="1000"/>
              </a:spcAft>
              <a:buSzPct val="100000"/>
              <a:buChar char="•"/>
              <a:lnSpc>
                <a:spcPts val="2200"/>
              </a:lnSpc>
            </a:pPr>
            <a:r>
              <a:rPr sz="2000" b="0">
                <a:solidFill>
                  <a:srgbClr val="333333"/>
                </a:solidFill>
                <a:latin typeface="Calibri"/>
              </a:rPr>
              <a:t>Do not assume positional port order when named connects are clearer</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module diagram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the starter and finish a few challenges</a:t>
            </a:r>
          </a:p>
          <a:p>
            <a:pPr lvl="0" marL="457200" indent="-228600">
              <a:buFont typeface="Calibri"/>
              <a:spcAft>
                <a:spcPts val="1000"/>
              </a:spcAft>
              <a:buSzPct val="100000"/>
              <a:buChar char="•"/>
              <a:lnSpc>
                <a:spcPts val="2200"/>
              </a:lnSpc>
            </a:pPr>
            <a:r>
              <a:rPr sz="2000" b="0">
                <a:solidFill>
                  <a:srgbClr val="333333"/>
                </a:solidFill>
                <a:latin typeface="Calibri"/>
              </a:rPr>
              <a:t>On real Verilog, write or edit a minimal module shell for this idea</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module diagram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