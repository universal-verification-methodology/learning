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RTL is mostly expressions: AND gates, compares, shifts, and bus packing. This module is the operator toolbox—bitwise versus logical, reductions, concatenation, replication, and shifts. We will try them in the browser playground, then write the same patterns in a real dot-v sketch.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Bitwise operators—ampersand, pipe, caret, tilde—work per bit on vectors of any width. Logical operators—double ampersand, double pipe, bang—ask whether a value is nonzero and always produce a single bit. Reduction operators—ampersand or pipe or caret in front of parentheses—fold an entire vector to one bit: all bits ANDed, any bit ORed, or parity XOR. Concatenation braces glue vectors left to right; replication repeats a pattern. Shifts move bits with zero fill or, for arithmetic right shift, sign-bit fill.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operator playground from the tools page. You will see challenges at the top, operand fields A and B, a row of operator buttons, and a result card with the bit pattern. Load the starter example—four apostrophe b one zero one zero bitwise AND four apostrophe b one one zero zero—and compare that to logical AND on the same values. Try a reduction, a concat, and a left shift. Work a few challenges, then use Check when the result matches the prompt.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and read the operator demo module. One assign uses bitwise AND on four-bit buses; another uses logical AND to get a single flag. Concatenation packs two nibbles into a byte; reduction AND tests whether every bit of a is one. If Icarus is available, run a syntax-only compile. These expression shapes appear in every counter, mux, and compare you write later.</a:t>
            </a:r>
          </a:p>
          <a:p/>
          <a:p>
            <a:r>
              <a:t>```verilog</a:t>
            </a:r>
          </a:p>
          <a:p>
            <a:r>
              <a:t>// operators.v — bitwise vs logical, concat, reduction</a:t>
            </a:r>
          </a:p>
          <a:p>
            <a:r>
              <a:t>module operator_demo(</a:t>
            </a:r>
          </a:p>
          <a:p>
            <a:r>
              <a:t>  input  wire [3:0] a,</a:t>
            </a:r>
          </a:p>
          <a:p>
            <a:r>
              <a:t>  input  wire [3:0] b,</a:t>
            </a:r>
          </a:p>
          <a:p>
            <a:r>
              <a:t>  output wire [3:0] bw_and,</a:t>
            </a:r>
          </a:p>
          <a:p>
            <a:r>
              <a:t>  output wire       log_and,</a:t>
            </a:r>
          </a:p>
          <a:p>
            <a:r>
              <a:t>  output wire [7:0] cat_ab,</a:t>
            </a:r>
          </a:p>
          <a:p>
            <a:r>
              <a:t>  output wire       all_ones</a:t>
            </a:r>
          </a:p>
          <a:p>
            <a:r>
              <a:t>);</a:t>
            </a:r>
          </a:p>
          <a:p>
            <a:r>
              <a:t>  assign bw_and   = a &amp; b;   // per-bit AND</a:t>
            </a:r>
          </a:p>
          <a:p>
            <a:r>
              <a:t>  assign log_and  = a &amp;&amp; b;  // logical AND → 1 bit</a:t>
            </a:r>
          </a:p>
          <a:p>
            <a:r>
              <a:t>  assign cat_ab   = {a, b};  // concat left then right</a:t>
            </a:r>
          </a:p>
          <a:p>
            <a:r>
              <a:t>  assign all_ones = &amp;a;      // reduction AND</a:t>
            </a:r>
          </a:p>
          <a:p>
            <a:r>
              <a:t>endmodule</a:t>
            </a:r>
          </a:p>
          <a:p/>
          <a:p>
            <a:r>
              <a:t>// iverilog -t null operators.v — syntax check only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swap bitwise and logical AND—four apostrophe b one zero one zero AND four apostrophe b one one zero zero is four bits wide, but the same values with double ampersand collapse to one bit. Do not confuse concat order: left operand becomes the upper bits. Arithmetic right shift fills with the sign bit; logical right shift fills with zero. And remember: the playground teaches expression literacy—you still owe correct operators in synthesizable RTL.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finish a few challenges. On real Verilog, write or edit a sketch that uses at least one bitwise and one logical operator. When you are ready, take the short quiz, then continue to sensitivity lists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Operators</a:t>
            </a:r>
          </a:p>
          <a:p>
            <a:pPr algn="ctr">
              <a:lnSpc>
                <a:spcPts val="2200"/>
              </a:lnSpc>
              <a:spcBef>
                <a:spcPts val="1400"/>
              </a:spcBef>
            </a:pPr>
            <a:r>
              <a:rPr sz="2600" b="0">
                <a:solidFill>
                  <a:srgbClr val="333333"/>
                </a:solidFill>
                <a:latin typeface="Calibri"/>
              </a:rPr>
              <a:t>RTL is mostly expressions: AND gates, compares, shifts, and bus packing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sv operators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Bitwise, logical, and reductions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Bitwise operators, ampersand, pipe, caret, tilde, work per bit on vectors of any width</a:t>
            </a:r>
          </a:p>
          <a:p>
            <a:pPr lvl="0" marL="457200" indent="-228600">
              <a:buFont typeface="Calibri"/>
              <a:spcAft>
                <a:spcPts val="1000"/>
              </a:spcAft>
              <a:buSzPct val="100000"/>
              <a:buChar char="•"/>
              <a:lnSpc>
                <a:spcPts val="2200"/>
              </a:lnSpc>
            </a:pPr>
            <a:r>
              <a:rPr sz="2000" b="0">
                <a:solidFill>
                  <a:srgbClr val="333333"/>
                </a:solidFill>
                <a:latin typeface="Calibri"/>
              </a:rPr>
              <a:t>Logical operators</a:t>
            </a:r>
          </a:p>
          <a:p>
            <a:pPr lvl="0" marL="457200" indent="-228600">
              <a:buFont typeface="Calibri"/>
              <a:spcAft>
                <a:spcPts val="1000"/>
              </a:spcAft>
              <a:buSzPct val="100000"/>
              <a:buChar char="•"/>
              <a:lnSpc>
                <a:spcPts val="2200"/>
              </a:lnSpc>
            </a:pPr>
            <a:r>
              <a:rPr sz="2000" b="0">
                <a:solidFill>
                  <a:srgbClr val="333333"/>
                </a:solidFill>
                <a:latin typeface="Calibri"/>
              </a:rPr>
              <a:t>All bits ANDed, any bit ORed, or parity XOR</a:t>
            </a:r>
          </a:p>
          <a:p>
            <a:pPr lvl="0" marL="457200" indent="-228600">
              <a:buFont typeface="Calibri"/>
              <a:spcAft>
                <a:spcPts val="1000"/>
              </a:spcAft>
              <a:buSzPct val="100000"/>
              <a:buChar char="•"/>
              <a:lnSpc>
                <a:spcPts val="2200"/>
              </a:lnSpc>
            </a:pPr>
            <a:r>
              <a:rPr sz="2000" b="0">
                <a:solidFill>
                  <a:srgbClr val="333333"/>
                </a:solidFill>
                <a:latin typeface="Calibri"/>
              </a:rPr>
              <a:t>Concatenation braces glue vectors left to right; replication repeats a pattern</a:t>
            </a:r>
          </a:p>
          <a:p>
            <a:pPr lvl="0" marL="457200" indent="-228600">
              <a:buFont typeface="Calibri"/>
              <a:spcAft>
                <a:spcPts val="1000"/>
              </a:spcAft>
              <a:buSzPct val="100000"/>
              <a:buChar char="•"/>
              <a:lnSpc>
                <a:spcPts val="2200"/>
              </a:lnSpc>
            </a:pPr>
            <a:r>
              <a:rPr sz="2000" b="0">
                <a:solidFill>
                  <a:srgbClr val="333333"/>
                </a:solidFill>
                <a:latin typeface="Calibri"/>
              </a:rPr>
              <a:t>Shifts move bits with zero fill or, for arithmetic right shift, sign-bit fill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sv operators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4293386"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SV operators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sv operators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143000"/>
            <a:ext cx="9160625"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operator demo</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sv operators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swap bitwise and logical AND</a:t>
            </a:r>
          </a:p>
          <a:p>
            <a:pPr lvl="0" marL="457200" indent="-228600">
              <a:buFont typeface="Calibri"/>
              <a:spcAft>
                <a:spcPts val="1000"/>
              </a:spcAft>
              <a:buSzPct val="100000"/>
              <a:buChar char="•"/>
              <a:lnSpc>
                <a:spcPts val="2200"/>
              </a:lnSpc>
            </a:pPr>
            <a:r>
              <a:rPr sz="2000" b="0">
                <a:solidFill>
                  <a:srgbClr val="333333"/>
                </a:solidFill>
                <a:latin typeface="Calibri"/>
              </a:rPr>
              <a:t>Do not confuse concat order: left operand becomes the upper bits</a:t>
            </a:r>
          </a:p>
          <a:p>
            <a:pPr lvl="0" marL="457200" indent="-228600">
              <a:buFont typeface="Calibri"/>
              <a:spcAft>
                <a:spcPts val="1000"/>
              </a:spcAft>
              <a:buSzPct val="100000"/>
              <a:buChar char="•"/>
              <a:lnSpc>
                <a:spcPts val="2200"/>
              </a:lnSpc>
            </a:pPr>
            <a:r>
              <a:rPr sz="2000" b="0">
                <a:solidFill>
                  <a:srgbClr val="333333"/>
                </a:solidFill>
                <a:latin typeface="Calibri"/>
              </a:rPr>
              <a:t>Arithmetic right shift fills with the sign bit; logical right shift fills with zero</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sv operators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finish a few challenges</a:t>
            </a:r>
          </a:p>
          <a:p>
            <a:pPr lvl="0" marL="457200" indent="-228600">
              <a:buFont typeface="Calibri"/>
              <a:spcAft>
                <a:spcPts val="1000"/>
              </a:spcAft>
              <a:buSzPct val="100000"/>
              <a:buChar char="•"/>
              <a:lnSpc>
                <a:spcPts val="2200"/>
              </a:lnSpc>
            </a:pPr>
            <a:r>
              <a:rPr sz="2000" b="0">
                <a:solidFill>
                  <a:srgbClr val="333333"/>
                </a:solidFill>
                <a:latin typeface="Calibri"/>
              </a:rPr>
              <a:t>On real Verilog</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sv operators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