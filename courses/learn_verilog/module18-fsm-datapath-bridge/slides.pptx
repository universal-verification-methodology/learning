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already met finite-state machines, ALU datapaths, and memory maps as digital concepts. This bridge module connects those ideas to Verilog you can write and simulate. An FSM is the control: it decides what happens on each clock cycle. The datapath is the arithmetic and logic that does the work. Memory holds operands and results. Real RTL combines all three — and now you translate browser-lab behavior into modules, ports, and always blocks.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RTL, the FSM usually lives in a clocked always block with a case on the current state. Next-state logic and Moore outputs can share that block or split for clarity. The datapath is mostly combinational: muxes select operands, an ALU computes, and registers capture results on the clock edge. A memory map in hardware is a register file or RAM block addressed by an index. You do not need a perfect one-to-one copy of every lab UI — you need a sketch that shows the same separation of control, compute, and storage.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track, reopen one of the concept labs you used in learn digital: the FSM designer for state tables and stepping, the ALU explorer for opcodes and flags, or the memory map for read and write by address. Load the starter, step through a few cycles, and note what the control does versus what the datapath computes. Your job is to imagine the Verilog module that would produce the same behavior — ports for clk, reset, inputs, and outputs, with an always block for state and assign or always-at-star for combo logic.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is a two-state Moore machine that toggles output z when input x is high — the same pattern as the FSM lab starter. The second is a tiny four-bit ALU with a case on opcode, matching the spirit of the ALU explorer. If Icarus is available, run a syntax-only compile to confirm both modules parse.</a:t>
            </a:r>
          </a:p>
          <a:p/>
          <a:p>
            <a:r>
              <a:t>```verilog</a:t>
            </a:r>
          </a:p>
          <a:p>
            <a:r>
              <a:t>// fsm_bridge_demo.v - Moore FSM and simple ALU</a:t>
            </a:r>
          </a:p>
          <a:p>
            <a:r>
              <a:t>module moore_toggle(</a:t>
            </a:r>
          </a:p>
          <a:p>
            <a:r>
              <a:t>  input        clk,</a:t>
            </a:r>
          </a:p>
          <a:p>
            <a:r>
              <a:t>  input        rst,</a:t>
            </a:r>
          </a:p>
          <a:p>
            <a:r>
              <a:t>  input        x,</a:t>
            </a:r>
          </a:p>
          <a:p>
            <a:r>
              <a:t>  output reg   z</a:t>
            </a:r>
          </a:p>
          <a:p>
            <a:r>
              <a:t>);</a:t>
            </a:r>
          </a:p>
          <a:p>
            <a:r>
              <a:t>  reg state;</a:t>
            </a:r>
          </a:p>
          <a:p>
            <a:r>
              <a:t>  localparam S0 = 1'b0, S1 = 1'b1;</a:t>
            </a:r>
          </a:p>
          <a:p/>
          <a:p>
            <a:r>
              <a:t>  always @(posedge clk) begin</a:t>
            </a:r>
          </a:p>
          <a:p>
            <a:r>
              <a:t>    if (rst) state &lt;= S0;</a:t>
            </a:r>
          </a:p>
          <a:p>
            <a:r>
              <a:t>    else case (state)</a:t>
            </a:r>
          </a:p>
          <a:p>
            <a:r>
              <a:t>      S0: state &lt;= x ? S1 : S0;</a:t>
            </a:r>
          </a:p>
          <a:p>
            <a:r>
              <a:t>      S1: state &lt;= x ? S0 : S1;</a:t>
            </a:r>
          </a:p>
          <a:p>
            <a:r>
              <a:t>    endcase</a:t>
            </a:r>
          </a:p>
          <a:p>
            <a:r>
              <a:t>  end</a:t>
            </a:r>
          </a:p>
          <a:p/>
          <a:p>
            <a:r>
              <a:t>  always @(posedge clk) begin</a:t>
            </a:r>
          </a:p>
          <a:p>
            <a:r>
              <a:t>    if (rst) z &lt;= 1'b0;</a:t>
            </a:r>
          </a:p>
          <a:p>
            <a:r>
              <a:t>    else case (state)</a:t>
            </a:r>
          </a:p>
          <a:p>
            <a:r>
              <a:t>      S0: z &lt;= 1'b0;</a:t>
            </a:r>
          </a:p>
          <a:p>
            <a:r>
              <a:t>      S1: z &lt;= 1'b1;</a:t>
            </a:r>
          </a:p>
          <a:p>
            <a:r>
              <a:t>    endcase</a:t>
            </a:r>
          </a:p>
          <a:p>
            <a:r>
              <a:t>  end</a:t>
            </a:r>
          </a:p>
          <a:p>
            <a:r>
              <a:t>endmodule</a:t>
            </a:r>
          </a:p>
          <a:p/>
          <a:p>
            <a:r>
              <a:t>module simple_alu(</a:t>
            </a:r>
          </a:p>
          <a:p>
            <a:r>
              <a:t>  input  [3:0] a,</a:t>
            </a:r>
          </a:p>
          <a:p>
            <a:r>
              <a:t>  input  [3:0] b,</a:t>
            </a:r>
          </a:p>
          <a:p>
            <a:r>
              <a:t>  input  [1:0] op,</a:t>
            </a:r>
          </a:p>
          <a:p>
            <a:r>
              <a:t>  output reg [3:0] y</a:t>
            </a:r>
          </a:p>
          <a:p>
            <a:r>
              <a:t>);</a:t>
            </a:r>
          </a:p>
          <a:p>
            <a:r>
              <a:t>  always @(*) begin</a:t>
            </a:r>
          </a:p>
          <a:p>
            <a:r>
              <a:t>    case (op)</a:t>
            </a:r>
          </a:p>
          <a:p>
            <a:r>
              <a:t>      2'b00: y = a + b;</a:t>
            </a:r>
          </a:p>
          <a:p>
            <a:r>
              <a:t>      2'b01: y = a - b;</a:t>
            </a:r>
          </a:p>
          <a:p>
            <a:r>
              <a:t>      2'b10: y = a &amp; b;</a:t>
            </a:r>
          </a:p>
          <a:p>
            <a:r>
              <a:t>      default: y = a ^ b;</a:t>
            </a:r>
          </a:p>
          <a:p>
            <a:r>
              <a:t>    endcase</a:t>
            </a:r>
          </a:p>
          <a:p>
            <a:r>
              <a:t>  end</a:t>
            </a:r>
          </a:p>
          <a:p>
            <a:r>
              <a:t>endmodule</a:t>
            </a:r>
          </a:p>
          <a:p/>
          <a:p>
            <a:r>
              <a:t>// iverilog -t null fsm_bridge_demo.v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combinational next-state logic in the same always block with blocking assignment mixed into registered outputs — keep clocked and combo roles clear. Do not forget a default state after reset or synthesis may latch undefined behavior. Do not assume the browser lab is the only spec — write ports and signal names that make the design readable on their own. And do not skip the memory-map lab entirely; even a one-line register array in Verilog reinforces how address maps to storage.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Pick one concept lab, load the starter, and outline a Verilog module with matching ports. Write at least a module shell and one always or assign block. Optionally run iverilog or the browser HDL simulator on your sketch. When you finish, take the short quiz, then continue to the course wrap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FSM and datapath in RTL</a:t>
            </a:r>
          </a:p>
          <a:p>
            <a:pPr algn="ctr">
              <a:lnSpc>
                <a:spcPts val="2200"/>
              </a:lnSpc>
              <a:spcBef>
                <a:spcPts val="1400"/>
              </a:spcBef>
            </a:pPr>
            <a:r>
              <a:rPr sz="2600" b="0">
                <a:solidFill>
                  <a:srgbClr val="333333"/>
                </a:solidFill>
                <a:latin typeface="Calibri"/>
              </a:rPr>
              <a:t>You have already met finite-state machines, ALU datapaths, and memory maps as digital concepts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Control plus datapath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RTL, the FSM usually lives in a clocked always block with a case on the current state</a:t>
            </a:r>
          </a:p>
          <a:p>
            <a:pPr lvl="0" marL="457200" indent="-228600">
              <a:buFont typeface="Calibri"/>
              <a:spcAft>
                <a:spcPts val="1000"/>
              </a:spcAft>
              <a:buSzPct val="100000"/>
              <a:buChar char="•"/>
              <a:lnSpc>
                <a:spcPts val="2200"/>
              </a:lnSpc>
            </a:pPr>
            <a:r>
              <a:rPr sz="2000" b="0">
                <a:solidFill>
                  <a:srgbClr val="333333"/>
                </a:solidFill>
                <a:latin typeface="Calibri"/>
              </a:rPr>
              <a:t>Next-state logic and Moore outputs can share that block or split for clarity</a:t>
            </a:r>
          </a:p>
          <a:p>
            <a:pPr lvl="0" marL="457200" indent="-228600">
              <a:buFont typeface="Calibri"/>
              <a:spcAft>
                <a:spcPts val="1000"/>
              </a:spcAft>
              <a:buSzPct val="100000"/>
              <a:buChar char="•"/>
              <a:lnSpc>
                <a:spcPts val="2200"/>
              </a:lnSpc>
            </a:pPr>
            <a:r>
              <a:rPr sz="2000" b="0">
                <a:solidFill>
                  <a:srgbClr val="333333"/>
                </a:solidFill>
                <a:latin typeface="Calibri"/>
              </a:rPr>
              <a:t>The datapath is mostly combinational</a:t>
            </a:r>
          </a:p>
          <a:p>
            <a:pPr lvl="0" marL="457200" indent="-228600">
              <a:buFont typeface="Calibri"/>
              <a:spcAft>
                <a:spcPts val="1000"/>
              </a:spcAft>
              <a:buSzPct val="100000"/>
              <a:buChar char="•"/>
              <a:lnSpc>
                <a:spcPts val="2200"/>
              </a:lnSpc>
            </a:pPr>
            <a:r>
              <a:rPr sz="2000" b="0">
                <a:solidFill>
                  <a:srgbClr val="333333"/>
                </a:solidFill>
                <a:latin typeface="Calibri"/>
              </a:rPr>
              <a:t>A memory map in hardware is a register file or RAM block addressed by an index</a:t>
            </a:r>
          </a:p>
          <a:p>
            <a:pPr lvl="0" marL="457200" indent="-228600">
              <a:buFont typeface="Calibri"/>
              <a:spcAft>
                <a:spcPts val="1000"/>
              </a:spcAft>
              <a:buSzPct val="100000"/>
              <a:buChar char="•"/>
              <a:lnSpc>
                <a:spcPts val="2200"/>
              </a:lnSpc>
            </a:pPr>
            <a:r>
              <a:rPr sz="2000" b="0">
                <a:solidFill>
                  <a:srgbClr val="333333"/>
                </a:solidFill>
                <a:latin typeface="Calibri"/>
              </a:rPr>
              <a:t>You do not need a perfect one-to-one copy of every lab UI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Revisit the concept labs</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FSM lab — Moore toggle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434714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FSM and ALU sketches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Keep clocked and combo roles clear</a:t>
            </a:r>
          </a:p>
          <a:p>
            <a:pPr lvl="0" marL="457200" indent="-228600">
              <a:buFont typeface="Calibri"/>
              <a:spcAft>
                <a:spcPts val="1000"/>
              </a:spcAft>
              <a:buSzPct val="100000"/>
              <a:buChar char="•"/>
              <a:lnSpc>
                <a:spcPts val="2200"/>
              </a:lnSpc>
            </a:pPr>
            <a:r>
              <a:rPr sz="2000" b="0">
                <a:solidFill>
                  <a:srgbClr val="333333"/>
                </a:solidFill>
                <a:latin typeface="Calibri"/>
              </a:rPr>
              <a:t>Do not forget a default state after reset or synthesis may latch undefined behavior</a:t>
            </a:r>
          </a:p>
          <a:p>
            <a:pPr lvl="0" marL="457200" indent="-228600">
              <a:buFont typeface="Calibri"/>
              <a:spcAft>
                <a:spcPts val="1000"/>
              </a:spcAft>
              <a:buSzPct val="100000"/>
              <a:buChar char="•"/>
              <a:lnSpc>
                <a:spcPts val="2200"/>
              </a:lnSpc>
            </a:pPr>
            <a:r>
              <a:rPr sz="2000" b="0">
                <a:solidFill>
                  <a:srgbClr val="333333"/>
                </a:solidFill>
                <a:latin typeface="Calibri"/>
              </a:rPr>
              <a:t>Do not assume the browser lab is the only spec</a:t>
            </a:r>
          </a:p>
          <a:p>
            <a:pPr lvl="0" marL="457200" indent="-228600">
              <a:buFont typeface="Calibri"/>
              <a:spcAft>
                <a:spcPts val="1000"/>
              </a:spcAft>
              <a:buSzPct val="100000"/>
              <a:buChar char="•"/>
              <a:lnSpc>
                <a:spcPts val="2200"/>
              </a:lnSpc>
            </a:pPr>
            <a:r>
              <a:rPr sz="2000" b="0">
                <a:solidFill>
                  <a:srgbClr val="333333"/>
                </a:solidFill>
                <a:latin typeface="Calibri"/>
              </a:rPr>
              <a:t>And do not skip the memory-map lab entirely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a:t>
            </a:r>
          </a:p>
          <a:p>
            <a:pPr lvl="0" marL="457200" indent="-228600">
              <a:buFont typeface="Calibri"/>
              <a:spcAft>
                <a:spcPts val="1000"/>
              </a:spcAft>
              <a:buSzPct val="100000"/>
              <a:buChar char="•"/>
              <a:lnSpc>
                <a:spcPts val="2200"/>
              </a:lnSpc>
            </a:pPr>
            <a:r>
              <a:rPr sz="2000" b="0">
                <a:solidFill>
                  <a:srgbClr val="333333"/>
                </a:solidFill>
                <a:latin typeface="Calibri"/>
              </a:rPr>
              <a:t>Pick one concept lab, load the starter, and outline a Verilog module with matching ports</a:t>
            </a:r>
          </a:p>
          <a:p>
            <a:pPr lvl="0" marL="457200" indent="-228600">
              <a:buFont typeface="Calibri"/>
              <a:spcAft>
                <a:spcPts val="1000"/>
              </a:spcAft>
              <a:buSzPct val="100000"/>
              <a:buChar char="•"/>
              <a:lnSpc>
                <a:spcPts val="2200"/>
              </a:lnSpc>
            </a:pPr>
            <a:r>
              <a:rPr sz="2000" b="0">
                <a:solidFill>
                  <a:srgbClr val="333333"/>
                </a:solidFill>
                <a:latin typeface="Calibri"/>
              </a:rPr>
              <a:t>Write at least a module shell and one always or assign block</a:t>
            </a:r>
          </a:p>
          <a:p>
            <a:pPr lvl="0" marL="457200" indent="-228600">
              <a:buFont typeface="Calibri"/>
              <a:spcAft>
                <a:spcPts val="1000"/>
              </a:spcAft>
              <a:buSzPct val="100000"/>
              <a:buChar char="•"/>
              <a:lnSpc>
                <a:spcPts val="2200"/>
              </a:lnSpc>
            </a:pPr>
            <a:r>
              <a:rPr sz="2000" b="0">
                <a:solidFill>
                  <a:srgbClr val="333333"/>
                </a:solidFill>
                <a:latin typeface="Calibri"/>
              </a:rPr>
              <a:t>Optionally run iverilog or the browser HDL simulator on your sketch</a:t>
            </a:r>
          </a:p>
          <a:p>
            <a:pPr lvl="0" marL="457200" indent="-228600">
              <a:buFont typeface="Calibri"/>
              <a:spcAft>
                <a:spcPts val="1000"/>
              </a:spcAft>
              <a:buSzPct val="100000"/>
              <a:buChar char="•"/>
              <a:lnSpc>
                <a:spcPts val="2200"/>
              </a:lnSpc>
            </a:pPr>
            <a:r>
              <a:rPr sz="2000" b="0">
                <a:solidFill>
                  <a:srgbClr val="333333"/>
                </a:solidFill>
                <a:latin typeface="Calibri"/>
              </a:rPr>
              <a:t>When you finish, take the short quiz, then continue to the course wrap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fsm datapath bridge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